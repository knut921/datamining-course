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70" r:id="rId2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Antigravity 任務單（自然語言提示語）</a:t>
            </a:r>
          </a:p>
          <a:p>
            <a:r>
              <a:t>依序貼給 Antigravity。每一步拿到回覆後，</a:t>
            </a:r>
          </a:p>
          <a:p>
            <a:r>
              <a:t>先自己覆核再往下</a:t>
            </a:r>
          </a:p>
          <a:p>
            <a:r>
              <a:t>。保留完整提示語，這是評量「AI 結果驗證與修正能力」的依據。</a:t>
            </a:r>
          </a:p>
          <a:p>
            <a:r>
              <a:t>任務 A · 資料盤點（不要下結論）</a:t>
            </a:r>
          </a:p>
          <a:p>
            <a:r>
              <a:t>貼給 Antigravity</a:t>
            </a:r>
          </a:p>
          <a:p>
            <a:r>
              <a:t>請讀取我上傳的「臺灣青年資料健檢.csv」，只做盤點、先不要做任何分析或結論：</a:t>
            </a:r>
          </a:p>
          <a:p>
            <a:r>
              <a:t>1. 回報總列數（資料筆數）與總欄位數。</a:t>
            </a:r>
          </a:p>
          <a:p>
            <a:r>
              <a:t>2. 逐欄列出：欄位名稱、你判斷的資料型態（類別／數值／識別碼），以及判斷理由一句話。</a:t>
            </a:r>
          </a:p>
          <a:p>
            <a:r>
              <a:t>3. 逐欄回報缺失值數量，並分別統計 "NA"、"Don't know"、"Not applicable" 各出現幾次，不要合併。</a:t>
            </a:r>
          </a:p>
          <a:p>
            <a:r>
              <a:t>4. 指出哪些欄位「看起來是數字但實際是類別」，說明原因。</a:t>
            </a:r>
          </a:p>
          <a:p>
            <a:r>
              <a:t>5. 條列你目前觀察到、需要人工再確認的異常或極端值（例如過大的數值、單位不一致）。</a:t>
            </a:r>
          </a:p>
          <a:p>
            <a:r>
              <a:t>輸出成一個表格，最後附一段 100 字內的資料概況說明。</a:t>
            </a:r>
          </a:p>
          <a:p>
            <a:r>
              <a:t>你要覆核：</a:t>
            </a:r>
          </a:p>
          <a:p>
            <a:r>
              <a:t>用試算表或</a:t>
            </a:r>
          </a:p>
          <a:p>
            <a:r>
              <a:t>=COUNTA()</a:t>
            </a:r>
          </a:p>
          <a:p>
            <a:r>
              <a:t>／篩選功能，自己數一次筆數與至少兩欄的缺失數，和 AI 的數字對得起來嗎？</a:t>
            </a:r>
          </a:p>
          <a:p>
            <a:r>
              <a:t>任務 B · 提出五個可回答的問題</a:t>
            </a:r>
          </a:p>
          <a:p>
            <a:r>
              <a:t>貼給 Antigravity</a:t>
            </a:r>
          </a:p>
          <a:p>
            <a:r>
              <a:t>根據上一步的欄位盤點結果，請提出 5 個「僅用這份資料就能回答」的分析問題。</a:t>
            </a:r>
          </a:p>
          <a:p>
            <a:r>
              <a:t>每個問題必須：</a:t>
            </a:r>
          </a:p>
          <a:p>
            <a:r>
              <a:t>- 明確指出會用到哪些欄位；</a:t>
            </a:r>
          </a:p>
          <a:p>
            <a:r>
              <a:t>- 說明分析對象是全體 212 筆，還是某個篩選後的次母體（並說明篩選條件）；</a:t>
            </a:r>
          </a:p>
          <a:p>
            <a:r>
              <a:t>- 標註打算用的動作屬於「類別描述（次數／百分比）」還是「數值描述（中位數／分布）」或「關聯」；</a:t>
            </a:r>
          </a:p>
          <a:p>
            <a:r>
              <a:t>- 不要使用「造成」「導致」「影響」等因果字眼。</a:t>
            </a:r>
          </a:p>
          <a:p>
            <a:r>
              <a:t>另外，請額外列出 2 個「常見但這份資料無法回答」的問題，並說明缺什麼欄位或什麼限制。</a:t>
            </a:r>
          </a:p>
          <a:p>
            <a:r>
              <a:t>你要覆核：</a:t>
            </a:r>
          </a:p>
          <a:p>
            <a:r>
              <a:t>逐一檢查每個問題點名的欄位是否真的存在、型態是否對應動作；把其中一個最想做的問題選為你的「研究問題卡」。</a:t>
            </a:r>
          </a:p>
          <a:p>
            <a:r>
              <a:t>任務 C · 整理資料限制</a:t>
            </a:r>
          </a:p>
          <a:p>
            <a:r>
              <a:t>貼給 Antigravity</a:t>
            </a:r>
          </a:p>
          <a:p>
            <a:r>
              <a:t>請根據這份資料的來源（中研院 2015 台灣社會變遷調查，18–24 歲子集，212 筆）與欄位特性，</a:t>
            </a:r>
          </a:p>
          <a:p>
            <a:r>
              <a:t>列出 3 項使用這份資料時必須說明的限制，方向包含：</a:t>
            </a:r>
          </a:p>
          <a:p>
            <a:r>
              <a:t>(1) 樣本涵蓋範圍與代表性；(2) 調查年份造成的時效問題；(3) 跳題造成的非隨機缺失；(4) 變項是自陳、可能有回憶或社會期許偏誤。</a:t>
            </a:r>
          </a:p>
          <a:p>
            <a:r>
              <a:t>每項限制寫成「因為……，所以本次分析不能宣稱……」的句型。</a:t>
            </a:r>
          </a:p>
          <a:p>
            <a:r>
              <a:t>你要覆核：</a:t>
            </a:r>
          </a:p>
          <a:p>
            <a:r>
              <a:t>從中挑出並改寫成 1 句你最有把握的「資料限制」，作為本週成果。</a:t>
            </a:r>
          </a:p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結果檢核表（交件前逐項打勾）</a:t>
            </a:r>
          </a:p>
          <a:p>
            <a:r>
              <a:t>AI 回報的筆數是 212、欄位是 24，且我自己數過至少一次。</a:t>
            </a:r>
          </a:p>
          <a:p>
            <a:r>
              <a:t>每一欄都標了型態，「地區代碼」「低生活滿意度」被歸為類別而非數值。</a:t>
            </a:r>
          </a:p>
          <a:p>
            <a:r>
              <a:t>NA</a:t>
            </a:r>
          </a:p>
          <a:p>
            <a:r>
              <a:t>、</a:t>
            </a:r>
          </a:p>
          <a:p>
            <a:r>
              <a:t>Don't know</a:t>
            </a:r>
          </a:p>
          <a:p>
            <a:r>
              <a:t>、</a:t>
            </a:r>
          </a:p>
          <a:p>
            <a:r>
              <a:t>Not applicable</a:t>
            </a:r>
          </a:p>
          <a:p>
            <a:r>
              <a:t>分開統計，沒有被當成 0 或互相混用。</a:t>
            </a:r>
          </a:p>
          <a:p>
            <a:r>
              <a:t>至少檢視一個極端值（如網路 900 分鐘），並決定「保留並標記」或「排除並說明」。</a:t>
            </a:r>
          </a:p>
          <a:p>
            <a:r>
              <a:t>研究問題卡有點名欄位、講清楚對象範圍，且沒有因果字眼。</a:t>
            </a:r>
          </a:p>
          <a:p>
            <a:r>
              <a:t>資料限制是「因為……所以不能宣稱……」的完整句，並註明資料來源與年份。</a:t>
            </a:r>
          </a:p>
          <a:p>
            <a:r>
              <a:t>完整提示語（任務 A/B/C）已保存，另一位同學可以照著重現我的健檢結果。</a:t>
            </a:r>
          </a:p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認識本週資料：臺灣青年資料健檢.csv</a:t>
            </a:r>
          </a:p>
          <a:p>
            <a:r>
              <a:t>來源為中央研究院「2015 臺灣社會變遷基本調查（第七期第一次）」，課堂 CSV 篩選 18–24 歲，共 212 筆、24 欄。</a:t>
            </a:r>
          </a:p>
          <a:p>
            <a:r>
              <a:t>↓ 開啟原始 CSV</a:t>
            </a:r>
          </a:p>
          <a:p>
            <a:r>
              <a:t>使用限制（務必寫進成果）：</a:t>
            </a:r>
          </a:p>
          <a:p>
            <a:r>
              <a:t>本資料僅限學術用途、禁止商業使用，任何成果須註明「資料來源：中央研究院社會學研究所，2015 臺灣社會變遷基本調查」。</a:t>
            </a:r>
          </a:p>
          <a:p>
            <a:r>
              <a:t>      課堂檔已保留抽樣權數與原始樣本編號，未經授權不得外流。</a:t>
            </a:r>
          </a:p>
          <a:p>
            <a:r>
              <a:t>欄位</a:t>
            </a:r>
          </a:p>
          <a:p>
            <a:r>
              <a:t>型態</a:t>
            </a:r>
          </a:p>
          <a:p>
            <a:r>
              <a:t>說明</a:t>
            </a:r>
          </a:p>
          <a:p>
            <a:r>
              <a:t>缺失／特殊值</a:t>
            </a:r>
          </a:p>
          <a:p>
            <a:r>
              <a:t>樣本編號</a:t>
            </a:r>
          </a:p>
          <a:p>
            <a:r>
              <a:t>識別碼</a:t>
            </a:r>
          </a:p>
          <a:p>
            <a:r>
              <a:t>受訪者唯一代碼，不參與統計</a:t>
            </a:r>
          </a:p>
          <a:p>
            <a:r>
              <a:t>212 個皆相異，無重複</a:t>
            </a:r>
          </a:p>
          <a:p>
            <a:r>
              <a:t>性別</a:t>
            </a:r>
          </a:p>
          <a:p>
            <a:r>
              <a:t>類別</a:t>
            </a:r>
          </a:p>
          <a:p>
            <a:r>
              <a:t>Male / Female</a:t>
            </a:r>
          </a:p>
          <a:p>
            <a:r>
              <a:t>男 107、女 105，無缺失</a:t>
            </a:r>
          </a:p>
          <a:p>
            <a:r>
              <a:t>年齡</a:t>
            </a:r>
          </a:p>
          <a:p>
            <a:r>
              <a:t>數值</a:t>
            </a:r>
          </a:p>
          <a:p>
            <a:r>
              <a:t>足歲，範圍 19–24</a:t>
            </a:r>
          </a:p>
          <a:p>
            <a:r>
              <a:t>無缺失</a:t>
            </a:r>
          </a:p>
          <a:p>
            <a:r>
              <a:t>地區代碼</a:t>
            </a:r>
          </a:p>
          <a:p>
            <a:r>
              <a:t>類別</a:t>
            </a:r>
          </a:p>
          <a:p>
            <a:r>
              <a:t>居住縣市代碼（1–6），</a:t>
            </a:r>
          </a:p>
          <a:p>
            <a:r>
              <a:t>不可當數值平均</a:t>
            </a:r>
          </a:p>
          <a:p>
            <a:r>
              <a:t>無缺失</a:t>
            </a:r>
          </a:p>
          <a:p>
            <a:r>
              <a:t>教育程度</a:t>
            </a:r>
          </a:p>
          <a:p>
            <a:r>
              <a:t>類別</a:t>
            </a:r>
          </a:p>
          <a:p>
            <a:r>
              <a:t>大學／科大／高職等在學或最高學歷</a:t>
            </a:r>
          </a:p>
          <a:p>
            <a:r>
              <a:t>1 筆為 Not applicable</a:t>
            </a:r>
          </a:p>
          <a:p>
            <a:r>
              <a:t>是否完成學業</a:t>
            </a:r>
          </a:p>
          <a:p>
            <a:r>
              <a:t>類別</a:t>
            </a:r>
          </a:p>
          <a:p>
            <a:r>
              <a:t>已畢業／肄業／仍在學</a:t>
            </a:r>
          </a:p>
          <a:p>
            <a:r>
              <a:t>約 34 筆為 Not applicable（尚未進入該題）</a:t>
            </a:r>
          </a:p>
          <a:p>
            <a:r>
              <a:t>每日閱讀報紙分鐘</a:t>
            </a:r>
          </a:p>
          <a:p>
            <a:r>
              <a:t>數值</a:t>
            </a:r>
          </a:p>
          <a:p>
            <a:r>
              <a:t>自陳分鐘數</a:t>
            </a:r>
          </a:p>
          <a:p>
            <a:r>
              <a:t>2 筆為 NA</a:t>
            </a:r>
          </a:p>
          <a:p>
            <a:r>
              <a:t>每日看電視分鐘</a:t>
            </a:r>
          </a:p>
          <a:p>
            <a:r>
              <a:t>數值</a:t>
            </a:r>
          </a:p>
          <a:p>
            <a:r>
              <a:t>自陳分鐘數</a:t>
            </a:r>
          </a:p>
          <a:p>
            <a:r>
              <a:t>無缺失</a:t>
            </a:r>
          </a:p>
          <a:p>
            <a:r>
              <a:t>每日使用網路分鐘</a:t>
            </a:r>
          </a:p>
          <a:p>
            <a:r>
              <a:t>數值</a:t>
            </a:r>
          </a:p>
          <a:p>
            <a:r>
              <a:t>自陳分鐘數，範圍 0–900</a:t>
            </a:r>
          </a:p>
          <a:p>
            <a:r>
              <a:t>無缺失；900 分鐘＝15 小時，屬需檢視的極端值</a:t>
            </a:r>
          </a:p>
          <a:p>
            <a:r>
              <a:t>每週閱讀雜誌分鐘</a:t>
            </a:r>
          </a:p>
          <a:p>
            <a:r>
              <a:t>數值</a:t>
            </a:r>
          </a:p>
          <a:p>
            <a:r>
              <a:t>自陳分鐘數</a:t>
            </a:r>
          </a:p>
          <a:p>
            <a:r>
              <a:t>1 筆為 NA</a:t>
            </a:r>
          </a:p>
          <a:p>
            <a:r>
              <a:t>臺灣經濟滿意度</a:t>
            </a:r>
          </a:p>
          <a:p>
            <a:r>
              <a:t>類別</a:t>
            </a:r>
          </a:p>
          <a:p>
            <a:r>
              <a:t>順序：很滿意 → 很不滿意</a:t>
            </a:r>
          </a:p>
          <a:p>
            <a:r>
              <a:t>約 99 筆為 Not applicable</a:t>
            </a:r>
          </a:p>
          <a:p>
            <a:r>
              <a:t>政府施政滿意度</a:t>
            </a:r>
          </a:p>
          <a:p>
            <a:r>
              <a:t>類別</a:t>
            </a:r>
          </a:p>
          <a:p>
            <a:r>
              <a:t>順序尺度</a:t>
            </a:r>
          </a:p>
          <a:p>
            <a:r>
              <a:t>約 100 筆為 Not applicable</a:t>
            </a:r>
          </a:p>
          <a:p>
            <a:r>
              <a:t>民主運作滿意度</a:t>
            </a:r>
          </a:p>
          <a:p>
            <a:r>
              <a:t>類別</a:t>
            </a:r>
          </a:p>
          <a:p>
            <a:r>
              <a:t>順序尺度</a:t>
            </a:r>
          </a:p>
          <a:p>
            <a:r>
              <a:t>約 101 筆為 Not applicable</a:t>
            </a:r>
          </a:p>
          <a:p>
            <a:r>
              <a:t>收入足夠日常開支</a:t>
            </a:r>
          </a:p>
          <a:p>
            <a:r>
              <a:t>類別</a:t>
            </a:r>
          </a:p>
          <a:p>
            <a:r>
              <a:t>遠超過 → 遠不足</a:t>
            </a:r>
          </a:p>
          <a:p>
            <a:r>
              <a:t>3 筆為特殊值</a:t>
            </a:r>
          </a:p>
          <a:p>
            <a:r>
              <a:t>整體 / 健康 / 朋友關係 / 工作滿意度</a:t>
            </a:r>
          </a:p>
          <a:p>
            <a:r>
              <a:t>類別</a:t>
            </a:r>
          </a:p>
          <a:p>
            <a:r>
              <a:t>順序尺度，4 個獨立變項</a:t>
            </a:r>
          </a:p>
          <a:p>
            <a:r>
              <a:t>工作滿意度含「目前無業」選項</a:t>
            </a:r>
          </a:p>
          <a:p>
            <a:r>
              <a:t>近期快樂程度</a:t>
            </a:r>
          </a:p>
          <a:p>
            <a:r>
              <a:t>類別</a:t>
            </a:r>
          </a:p>
          <a:p>
            <a:r>
              <a:t>順序尺度</a:t>
            </a:r>
          </a:p>
          <a:p>
            <a:r>
              <a:t>無缺失</a:t>
            </a:r>
          </a:p>
          <a:p>
            <a:r>
              <a:t>自評健康</a:t>
            </a:r>
          </a:p>
          <a:p>
            <a:r>
              <a:t>類別</a:t>
            </a:r>
          </a:p>
          <a:p>
            <a:r>
              <a:t>Very good → Poor</a:t>
            </a:r>
          </a:p>
          <a:p>
            <a:r>
              <a:t>無缺失</a:t>
            </a:r>
          </a:p>
          <a:p>
            <a:r>
              <a:t>覺得生活沒有希望</a:t>
            </a:r>
          </a:p>
          <a:p>
            <a:r>
              <a:t>類別</a:t>
            </a:r>
          </a:p>
          <a:p>
            <a:r>
              <a:t>頻率：完全沒有 → 比平常多很多</a:t>
            </a:r>
          </a:p>
          <a:p>
            <a:r>
              <a:t>無缺失</a:t>
            </a:r>
          </a:p>
          <a:p>
            <a:r>
              <a:t>家庭月收入</a:t>
            </a:r>
          </a:p>
          <a:p>
            <a:r>
              <a:t>類別</a:t>
            </a:r>
          </a:p>
          <a:p>
            <a:r>
              <a:t>／區間</a:t>
            </a:r>
          </a:p>
          <a:p>
            <a:r>
              <a:t>以金額區間呈現（如 NT$60,000–69,999）</a:t>
            </a:r>
          </a:p>
          <a:p>
            <a:r>
              <a:t>約 64 筆為「Don't know」，不可當 0</a:t>
            </a:r>
          </a:p>
          <a:p>
            <a:r>
              <a:t>低生活滿意度</a:t>
            </a:r>
          </a:p>
          <a:p>
            <a:r>
              <a:t>類別</a:t>
            </a:r>
          </a:p>
          <a:p>
            <a:r>
              <a:t>0 / 1 的衍生指標（第 11 週會用）</a:t>
            </a:r>
          </a:p>
          <a:p>
            <a:r>
              <a:t>無缺失</a:t>
            </a:r>
          </a:p>
          <a:p>
            <a:r>
              <a:t>抽樣權數</a:t>
            </a:r>
          </a:p>
          <a:p>
            <a:r>
              <a:t>數值</a:t>
            </a:r>
          </a:p>
          <a:p>
            <a:r>
              <a:t>加權用，範圍約 0.69–1.29，</a:t>
            </a:r>
          </a:p>
          <a:p>
            <a:r>
              <a:t>不是受訪者特徵</a:t>
            </a:r>
          </a:p>
          <a:p>
            <a:r>
              <a:t>無缺失</a:t>
            </a:r>
          </a:p>
          <a:p>
            <a:r>
              <a:t>註：滿意度題大量出現</a:t>
            </a:r>
          </a:p>
          <a:p>
            <a:r>
              <a:t>Not applicable</a:t>
            </a:r>
          </a:p>
          <a:p>
            <a:r>
              <a:t>，是因為原調查依受訪者身分跳題。做健檢時要如實記錄，</a:t>
            </a:r>
          </a:p>
          <a:p>
            <a:r>
              <a:t>      不要把</a:t>
            </a:r>
          </a:p>
          <a:p>
            <a:r>
              <a:t>NA</a:t>
            </a:r>
          </a:p>
          <a:p>
            <a:r>
              <a:t>、</a:t>
            </a:r>
          </a:p>
          <a:p>
            <a:r>
              <a:t>Don't know</a:t>
            </a:r>
          </a:p>
          <a:p>
            <a:r>
              <a:t>、</a:t>
            </a:r>
          </a:p>
          <a:p>
            <a:r>
              <a:t>Not applicable</a:t>
            </a:r>
          </a:p>
          <a:p>
            <a:r>
              <a:t>混為一談，也不要自行填 0。</a:t>
            </a:r>
          </a:p>
          <a:p/>
          <a:p>
            <a:r>
              <a:t>完整教材與互動：https://knut921.github.io/datamining-course/week01.html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完整教材與互動：https://knut921.github.io/datamining-course/week01.html</a:t>
            </a:r>
          </a:p>
          <a:p>
            <a:r>
              <a:t>原始 CSV：https://knut921.github.io/datamining-course/data/臺灣青年資料健檢.csv</a:t>
            </a:r>
          </a:p>
          <a:p>
            <a:r>
              <a:t>本頁只展示原檔前五筆，不代表整份資料的分布；未排序、未翻譯標籤、未四捨五入或改寫数值。</a:t>
            </a:r>
          </a:p>
          <a:p>
            <a:r>
              <a:t>全部欄位及前五筆原始紀錄：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"樣本編號": "106117",</a:t>
            </a:r>
          </a:p>
          <a:p>
            <a:r>
              <a:t>    "性別": "Female",</a:t>
            </a:r>
          </a:p>
          <a:p>
            <a:r>
              <a:t>    "年齡": "23",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"Yes, I graduated",</a:t>
            </a:r>
          </a:p>
          <a:p>
            <a:r>
              <a:t>    "每日閱讀報紙分鐘": "30",</a:t>
            </a:r>
          </a:p>
          <a:p>
            <a:r>
              <a:t>    "每日看電視分鐘": "60",</a:t>
            </a:r>
          </a:p>
          <a:p>
            <a:r>
              <a:t>    "每日使用網路分鐘": "300",</a:t>
            </a:r>
          </a:p>
          <a:p>
            <a:r>
              <a:t>    "每週閱讀雜誌分鐘": "0",</a:t>
            </a:r>
          </a:p>
          <a:p>
            <a:r>
              <a:t>    "臺灣經濟滿意度": "Fairly dissatisfied",</a:t>
            </a:r>
          </a:p>
          <a:p>
            <a:r>
              <a:t>    "政府施政滿意度": "Very dissatisfied",</a:t>
            </a:r>
          </a:p>
          <a:p>
            <a:r>
              <a:t>    "民主運作滿意度": "Fairly satisfied",</a:t>
            </a:r>
          </a:p>
          <a:p>
            <a:r>
              <a:t>    "收入足夠日常開支": "A little more than enough",</a:t>
            </a:r>
          </a:p>
          <a:p>
            <a:r>
              <a:t>    "整體生活滿意度": "Fairly satisfied",</a:t>
            </a:r>
          </a:p>
          <a:p>
            <a:r>
              <a:t>    "健康滿意度": "Fairly satisfied",</a:t>
            </a:r>
          </a:p>
          <a:p>
            <a:r>
              <a:t>    "朋友關係滿意度": "Fairly satisfied",</a:t>
            </a:r>
          </a:p>
          <a:p>
            <a:r>
              <a:t>    "工作滿意度": "Fairly satisfied",</a:t>
            </a:r>
          </a:p>
          <a:p>
            <a:r>
              <a:t>    "近期快樂程度": "Fairly unhappy",</a:t>
            </a:r>
          </a:p>
          <a:p>
            <a:r>
              <a:t>    "自評健康": "Fair",</a:t>
            </a:r>
          </a:p>
          <a:p>
            <a:r>
              <a:t>    "覺得生活沒有希望": "A bit more than usual",</a:t>
            </a:r>
          </a:p>
          <a:p>
            <a:r>
              <a:t>    "家庭月收入": "Don't know",</a:t>
            </a:r>
          </a:p>
          <a:p>
            <a:r>
              <a:t>    "低生活滿意度": "0",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"106208",</a:t>
            </a:r>
          </a:p>
          <a:p>
            <a:r>
              <a:t>    "性別": "Female",</a:t>
            </a:r>
          </a:p>
          <a:p>
            <a:r>
              <a:t>    "年齡": "21",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"No, I didn't graduate",</a:t>
            </a:r>
          </a:p>
          <a:p>
            <a:r>
              <a:t>    "每日閱讀報紙分鐘": "0",</a:t>
            </a:r>
          </a:p>
          <a:p>
            <a:r>
              <a:t>    "每日看電視分鐘": "120",</a:t>
            </a:r>
          </a:p>
          <a:p>
            <a:r>
              <a:t>    "每日使用網路分鐘": "180",</a:t>
            </a:r>
          </a:p>
          <a:p>
            <a:r>
              <a:t>    "每週閱讀雜誌分鐘": "60",</a:t>
            </a:r>
          </a:p>
          <a:p>
            <a:r>
              <a:t>    "臺灣經濟滿意度": "Not applicable",</a:t>
            </a:r>
          </a:p>
          <a:p>
            <a:r>
              <a:t>    "政府施政滿意度": "Not applicable",</a:t>
            </a:r>
          </a:p>
          <a:p>
            <a:r>
              <a:t>    "民主運作滿意度": "Not applicable",</a:t>
            </a:r>
          </a:p>
          <a:p>
            <a:r>
              <a:t>    "收入足夠日常開支": "Much more than enough",</a:t>
            </a:r>
          </a:p>
          <a:p>
            <a:r>
              <a:t>    "整體生活滿意度": "Pretty satisfied",</a:t>
            </a:r>
          </a:p>
          <a:p>
            <a:r>
              <a:t>    "健康滿意度": "Fairly satisfied",</a:t>
            </a:r>
          </a:p>
          <a:p>
            <a:r>
              <a:t>    "朋友關係滿意度": "Pretty satisfied",</a:t>
            </a:r>
          </a:p>
          <a:p>
            <a:r>
              <a:t>    "工作滿意度": "I am currently unemployed",</a:t>
            </a:r>
          </a:p>
          <a:p>
            <a:r>
              <a:t>    "近期快樂程度": "Pretty happy",</a:t>
            </a:r>
          </a:p>
          <a:p>
            <a:r>
              <a:t>    "自評健康": "Very good",</a:t>
            </a:r>
          </a:p>
          <a:p>
            <a:r>
              <a:t>    "覺得生活沒有希望": "Not at all",</a:t>
            </a:r>
          </a:p>
          <a:p>
            <a:r>
              <a:t>    "家庭月收入": "NT$60,000 - NT$69,999",</a:t>
            </a:r>
          </a:p>
          <a:p>
            <a:r>
              <a:t>    "低生活滿意度": "0",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"110116",</a:t>
            </a:r>
          </a:p>
          <a:p>
            <a:r>
              <a:t>    "性別": "Male",</a:t>
            </a:r>
          </a:p>
          <a:p>
            <a:r>
              <a:t>    "年齡": "19",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"Not applicable",</a:t>
            </a:r>
          </a:p>
          <a:p>
            <a:r>
              <a:t>    "每日閱讀報紙分鐘": "0",</a:t>
            </a:r>
          </a:p>
          <a:p>
            <a:r>
              <a:t>    "每日看電視分鐘": "120",</a:t>
            </a:r>
          </a:p>
          <a:p>
            <a:r>
              <a:t>    "每日使用網路分鐘": "420",</a:t>
            </a:r>
          </a:p>
          <a:p>
            <a:r>
              <a:t>    "每週閱讀雜誌分鐘": "0",</a:t>
            </a:r>
          </a:p>
          <a:p>
            <a:r>
              <a:t>    "臺灣經濟滿意度": "Not applicable",</a:t>
            </a:r>
          </a:p>
          <a:p>
            <a:r>
              <a:t>    "政府施政滿意度": "Not applicable",</a:t>
            </a:r>
          </a:p>
          <a:p>
            <a:r>
              <a:t>    "民主運作滿意度": "Not applicable",</a:t>
            </a:r>
          </a:p>
          <a:p>
            <a:r>
              <a:t>    "收入足夠日常開支": "A little more than enough",</a:t>
            </a:r>
          </a:p>
          <a:p>
            <a:r>
              <a:t>    "整體生活滿意度": "Fairly satisfied",</a:t>
            </a:r>
          </a:p>
          <a:p>
            <a:r>
              <a:t>    "健康滿意度": "Fairly dissatisfied",</a:t>
            </a:r>
          </a:p>
          <a:p>
            <a:r>
              <a:t>    "朋友關係滿意度": "Fairly satisfied",</a:t>
            </a:r>
          </a:p>
          <a:p>
            <a:r>
              <a:t>    "工作滿意度": "I am currently unemployed",</a:t>
            </a:r>
          </a:p>
          <a:p>
            <a:r>
              <a:t>    "近期快樂程度": "Fairly happy",</a:t>
            </a:r>
          </a:p>
          <a:p>
            <a:r>
              <a:t>    "自評健康": "Poor",</a:t>
            </a:r>
          </a:p>
          <a:p>
            <a:r>
              <a:t>    "覺得生活沒有希望": "Same as usual",</a:t>
            </a:r>
          </a:p>
          <a:p>
            <a:r>
              <a:t>    "家庭月收入": "Don't know",</a:t>
            </a:r>
          </a:p>
          <a:p>
            <a:r>
              <a:t>    "低生活滿意度": "0",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"110119",</a:t>
            </a:r>
          </a:p>
          <a:p>
            <a:r>
              <a:t>    "性別": "Male",</a:t>
            </a:r>
          </a:p>
          <a:p>
            <a:r>
              <a:t>    "年齡": "24",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"Yes, I graduated",</a:t>
            </a:r>
          </a:p>
          <a:p>
            <a:r>
              <a:t>    "每日閱讀報紙分鐘": "3",</a:t>
            </a:r>
          </a:p>
          <a:p>
            <a:r>
              <a:t>    "每日看電視分鐘": "60",</a:t>
            </a:r>
          </a:p>
          <a:p>
            <a:r>
              <a:t>    "每日使用網路分鐘": "240",</a:t>
            </a:r>
          </a:p>
          <a:p>
            <a:r>
              <a:t>    "每週閱讀雜誌分鐘": "120",</a:t>
            </a:r>
          </a:p>
          <a:p>
            <a:r>
              <a:t>    "臺灣經濟滿意度": "Fairly satisfied",</a:t>
            </a:r>
          </a:p>
          <a:p>
            <a:r>
              <a:t>    "政府施政滿意度": "Fairly satisfied",</a:t>
            </a:r>
          </a:p>
          <a:p>
            <a:r>
              <a:t>    "民主運作滿意度": "Fairly dissatisfied",</a:t>
            </a:r>
          </a:p>
          <a:p>
            <a:r>
              <a:t>    "收入足夠日常開支": "A little more than enough",</a:t>
            </a:r>
          </a:p>
          <a:p>
            <a:r>
              <a:t>    "整體生活滿意度": "Fairly satisfied",</a:t>
            </a:r>
          </a:p>
          <a:p>
            <a:r>
              <a:t>    "健康滿意度": "Fairly satisfied",</a:t>
            </a:r>
          </a:p>
          <a:p>
            <a:r>
              <a:t>    "朋友關係滿意度": "Fairly satisfied",</a:t>
            </a:r>
          </a:p>
          <a:p>
            <a:r>
              <a:t>    "工作滿意度": "I am currently unemployed",</a:t>
            </a:r>
          </a:p>
          <a:p>
            <a:r>
              <a:t>    "近期快樂程度": "Fairly happy",</a:t>
            </a:r>
          </a:p>
          <a:p>
            <a:r>
              <a:t>    "自評健康": "Fair",</a:t>
            </a:r>
          </a:p>
          <a:p>
            <a:r>
              <a:t>    "覺得生活沒有希望": "Same as usual",</a:t>
            </a:r>
          </a:p>
          <a:p>
            <a:r>
              <a:t>    "家庭月收入": "NT$300,000 - NT$399,999",</a:t>
            </a:r>
          </a:p>
          <a:p>
            <a:r>
              <a:t>    "低生活滿意度": "0",</a:t>
            </a:r>
          </a:p>
          <a:p>
            <a:r>
              <a:t>    "抽樣權數": "0.807775334231511"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"樣本編號": "110219",</a:t>
            </a:r>
          </a:p>
          <a:p>
            <a:r>
              <a:t>    "性別": "Male",</a:t>
            </a:r>
          </a:p>
          <a:p>
            <a:r>
              <a:t>    "年齡": "19",</a:t>
            </a:r>
          </a:p>
          <a:p>
            <a:r>
              <a:t>    "地區代碼": "1",</a:t>
            </a:r>
          </a:p>
          <a:p>
            <a:r>
              <a:t>    "教育程度": "College (continue with 6a2)",</a:t>
            </a:r>
          </a:p>
          <a:p>
            <a:r>
              <a:t>    "是否完成學業": "No, I am still a student",</a:t>
            </a:r>
          </a:p>
          <a:p>
            <a:r>
              <a:t>    "每日閱讀報紙分鐘": "0",</a:t>
            </a:r>
          </a:p>
          <a:p>
            <a:r>
              <a:t>    "每日看電視分鐘": "120",</a:t>
            </a:r>
          </a:p>
          <a:p>
            <a:r>
              <a:t>    "每日使用網路分鐘": "480",</a:t>
            </a:r>
          </a:p>
          <a:p>
            <a:r>
              <a:t>    "每週閱讀雜誌分鐘": "0",</a:t>
            </a:r>
          </a:p>
          <a:p>
            <a:r>
              <a:t>    "臺灣經濟滿意度": "Fairly dissatisfied",</a:t>
            </a:r>
          </a:p>
          <a:p>
            <a:r>
              <a:t>    "政府施政滿意度": "Fairly dissatisfied",</a:t>
            </a:r>
          </a:p>
          <a:p>
            <a:r>
              <a:t>    "民主運作滿意度": "Very satisfied",</a:t>
            </a:r>
          </a:p>
          <a:p>
            <a:r>
              <a:t>    "收入足夠日常開支": "A little more than enough",</a:t>
            </a:r>
          </a:p>
          <a:p>
            <a:r>
              <a:t>    "整體生活滿意度": "Fairly satisfied",</a:t>
            </a:r>
          </a:p>
          <a:p>
            <a:r>
              <a:t>    "健康滿意度": "Fairly dissatisfied",</a:t>
            </a:r>
          </a:p>
          <a:p>
            <a:r>
              <a:t>    "朋友關係滿意度": "Fairly satisfied",</a:t>
            </a:r>
          </a:p>
          <a:p>
            <a:r>
              <a:t>    "工作滿意度": "I am currently unemployed",</a:t>
            </a:r>
          </a:p>
          <a:p>
            <a:r>
              <a:t>    "近期快樂程度": "Fairly happy",</a:t>
            </a:r>
          </a:p>
          <a:p>
            <a:r>
              <a:t>    "自評健康": "Good",</a:t>
            </a:r>
          </a:p>
          <a:p>
            <a:r>
              <a:t>    "覺得生活沒有希望": "Not at all",</a:t>
            </a:r>
          </a:p>
          <a:p>
            <a:r>
              <a:t>    "家庭月收入": "Don't know",</a:t>
            </a:r>
          </a:p>
          <a:p>
            <a:r>
              <a:t>    "低生活滿意度": "0",</a:t>
            </a:r>
          </a:p>
          <a:p>
            <a:r>
              <a:t>    "抽樣權數": "0.807775334231511"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來源：中央研究院社會學研究所，2015 臺灣社會變遷基本調查。僅限學術用途，禁止商用。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nut921.github.io/datamining-course/week01.html#tas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knut921.github.io/datamining-course/week01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nut921.github.io/datamining-course/data/&#33274;&#28771;&#38738;&#24180;&#36039;&#26009;&#20581;&#27298;.csv" TargetMode="Externa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用資料回答問題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先認識資料，再提出可以回答的問題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297680"/>
            <a:ext cx="10835640" cy="36576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概念微講授  →  資料實作  →  AI 任務  →  人工覆核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本週要完成的三件事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看懂一列、一欄各代表什麼。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完成資料健檢：筆數、型態、缺失與特殊值。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提出可回答的研究問題，寫出資料限制。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資料表的兩個方向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觀察值＝列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一列是一位受訪者；本份青年子集有 212 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變項＝欄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每欄記錄一項特徵；本週課堂 CSV 有 24 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識別碼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樣本編號只用來追查個案，不拿來算平均。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抽樣權數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用於加權計算，不當成人口背景特徵。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先辨認型態，再決定分析方法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類別變項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性別、地區代碼：先數次數與百分比。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數值變項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年齡、網路分鐘：可看中心、分散與分布。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順序類別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滿意度有順序；不直接假定級距相等。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數字也可能是代碼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地區 1–6 與 0／1 指標，不因寫成數字就能平均。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本週資料：2015 青年調查子集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來源：中央研究院 2015 臺灣社會變遷基本調查。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篩選 18–24 歲；CSV 實際年齡 19–24 歲，212 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網路、電視、報紙為每日分鐘；雜誌為每週分鐘。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資料是特定年份的青年樣本，不能代表今日所有大學生。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缺失、特殊值與 0，不能混為一談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0 分鐘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可能是真的沒有使用，是有效數值。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缺失需記錄；分析該欄時報有效 n。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Not applicable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不適用；回查問卷與跳題規則，不自行填 0。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Don't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不知道不是收入 0；保留原標籤與處理紀錄。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資料健檢：可以先核對的事實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463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檢查項目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課堂資料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覆核動作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筆數／欄位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212／24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核對匯入結果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性別人數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男 107／女 105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次數合計 212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網路分鐘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0–900 分鐘／日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保留並查核高值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單位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每日／每週並存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跨欄比較先換算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900 分鐘上網＝誤植嗎？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900 分鐘等於 15 小時，值得回查。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先查題目定義、填答方式與原始記錄。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沒有證據時保留原值，清楚標示疑點。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「很大」不等於「錯誤」，不可自行改成 90。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把問題改寫成資料能回答的形式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可以回答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本份樣本的每日上網時間分布如何？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需要先定義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「重度使用」的門檻是多少？為什麼？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目前不能回答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上網是否造成成績下降？本檔沒有成績與因果設計。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問題卡必備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研究對象、變項、分析方法與不能回答的部分。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課堂練習｜做一張問題卡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選兩個真實存在的欄位，確認變項型態。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寫一句能用這份資料回答的研究問題。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列出需要的計算、圖表與缺失規則。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與同學交換，找出一項不能推論的結論。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本週交件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資料健檢表：逐項記錄發現與處理。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研究問題卡一張：問題、欄位、範圍與方法。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資料限制一句：因為……所以不能宣稱……。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一頁成果，另附完整 AI 提示語紀錄。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任務單｜依序執行、逐項覆核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789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A｜資料盤點與計算</a:t>
            </a:r>
          </a:p>
          <a:p>
            <a:pPr>
              <a:spcAft>
                <a:spcPts val="1000"/>
              </a:spcAft>
              <a:defRPr sz="27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B｜提出問題或繪製圖表</a:t>
            </a:r>
          </a:p>
          <a:p>
            <a:pPr>
              <a:spcAft>
                <a:spcPts val="1000"/>
              </a:spcAft>
              <a:defRPr sz="27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C｜整理發現與資料限制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開啟網頁，複製完整提示語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交件前，自己再確認一次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數字能回到原始資料，已人工覆核至少一項。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圖表標示變項、單位、有效 n、年份與資料來源。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把資料事實、可能解釋與不能推論的內容分開。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保留完整提示語、原始資料及分析與修正紀錄。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資料來源與延伸操作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中央研究院 2015 臺灣社會變遷基本調查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18–24 歲篩選子集；本檔實際觀察為 19–24 歲。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僅限學術用途、禁止商業使用；成果請註明來源。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開啟完整教材、下載 CSV 與操作互動實驗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t>DATA MINING  / 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20283F"/>
                </a:solidFill>
                <a:latin typeface="PingFang TC"/>
              </a:defRPr>
            </a:pPr>
            <a:r>
              <a:t>範例檔原始資料｜先看資料長什麼樣子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B4A8C"/>
                </a:solidFill>
                <a:latin typeface="PingFang TC"/>
              </a:defRPr>
            </a:pPr>
            <a:r>
              <a:t>臺灣青年資料健檢.csv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75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596078"/>
                </a:solidFill>
                <a:latin typeface="PingFang TC"/>
              </a:defRPr>
            </a:pPr>
            <a:r>
              <a:t>原檔 212 筆、24 欄｜下表依原順序顯示前 5 筆、選列 6 欄；欄名與儲存格保留原值。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587752"/>
          <a:ext cx="109728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731520"/>
                <a:gridCol w="1188720"/>
                <a:gridCol w="2286000"/>
                <a:gridCol w="45720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樣本編號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性別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年齡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地區代碼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每日使用網路分鐘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家庭月收入</a:t>
                      </a:r>
                    </a:p>
                  </a:txBody>
                  <a:tcPr marL="64008" marR="64008" marT="45720" marB="45720">
                    <a:solidFill>
                      <a:srgbClr val="3B4A8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106117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Female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Don't know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106208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Female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180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NT$60,000 - NT$69,999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110116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Male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420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Don't know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110119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Male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24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NT$300,000 - NT$399,999</a:t>
                      </a:r>
                    </a:p>
                  </a:txBody>
                  <a:tcPr marL="64008" marR="64008" marT="45720" marB="45720">
                    <a:solidFill>
                      <a:srgbClr val="E9EC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110219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Male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480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Don't know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53212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B4A8C"/>
                </a:solidFill>
                <a:latin typeface="PingFang TC"/>
              </a:defRPr>
            </a:pPr>
            <a:r>
              <a:t>一起找：哪欄是識別碼？「地區代碼」能算平均嗎？</a:t>
            </a: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594360" y="60076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B4A8C"/>
                </a:solidFill>
                <a:latin typeface="PingFang TC"/>
              </a:defRPr>
            </a:pPr>
            <a:r>
              <a:t>開啟完整原始 CSV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t>臺北市立大學 公共事務學系｜郭毓倫 · 資料探勘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1｜用資料回答問題</dc:title>
  <dc:subject>資料探勘課程教材</dc:subject>
  <dc:creator>郭毓倫｜臺北市立大學公共事務學系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