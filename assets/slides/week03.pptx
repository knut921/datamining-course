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完整教材與互動：https://knut921.github.io/datamining-course/week03.html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完整教材與互動：https://knut921.github.io/datamining-course/week03.html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完整教材與互動：https://knut921.github.io/datamining-course/week03.html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完整教材與互動：https://knut921.github.io/datamining-course/week03.html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完整教材與互動：https://knut921.github.io/datamining-course/week03.html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完整教材與互動：https://knut921.github.io/datamining-course/week03.html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完整教材與互動：https://knut921.github.io/datamining-course/week03.html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完整教材與互動：https://knut921.github.io/datamining-course/week03.html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完整教材與互動：https://knut921.github.io/datamining-course/week03.html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完整教材與互動：https://knut921.github.io/datamining-course/week03.html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請讀取我上傳的「臺灣青年時間使用.csv」，不要生成假受訪者。</a:t>
            </a:r>
          </a:p>
          <a:p>
            <a:r>
              <a:t>1. 回報總筆數、欄位、四個時間變項各自的有效 n 與缺失 n。</a:t>
            </a:r>
          </a:p>
          <a:p>
            <a:r>
              <a:t>2. NA、空白視為缺失，逐欄排除；0 是有效數值。不要整列刪除其他仍有效的作答。</a:t>
            </a:r>
          </a:p>
          <a:p>
            <a:r>
              <a:t>3. 對每日閱讀報紙分鐘、每日看電視分鐘、每日使用網路分鐘、每週閱讀雜誌分鐘，計算未加權平均數、中位數、最小值、最大值、Q1、Q3、樣本標準差。</a:t>
            </a:r>
          </a:p>
          <a:p>
            <a:r>
              <a:t>4. 樣本標準差使用 n−1；四分位數採 PERCENTILE.INC／(n−1)×p 線性內插。</a:t>
            </a:r>
          </a:p>
          <a:p>
            <a:r>
              <a:t>5. 表頭標明單位，保留每週雜誌的原始單位。顯示到小數 2 位，但計算時不先四捨五入。</a:t>
            </a:r>
          </a:p>
          <a:p>
            <a:r>
              <a:t>6. 保留抽樣權數但不套用；明確標示這是未加權樣本描述。先產表，不下母體推論。</a:t>
            </a:r>
          </a:p>
          <a:p/>
          <a:p>
            <a:r>
              <a:t>完整教材與互動：https://knut921.github.io/datamining-course/week03.html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根據任務 A 的資料，另建「雜誌日均分鐘」＝每週閱讀雜誌分鐘 ÷ 7，不覆寫原欄位。</a:t>
            </a:r>
          </a:p>
          <a:p>
            <a:r>
              <a:t>將四個時間變項統一為分鐘／日，列出平均數、中位數，以及絕對差 |平均數−中位數|，由大到小排序。</a:t>
            </a:r>
          </a:p>
          <a:p>
            <a:r>
              <a:t>指出差距最大的變項；說明為什麼不能直接比較原始欄位的每日與每週數值。</a:t>
            </a:r>
          </a:p>
          <a:p>
            <a:r>
              <a:t>以每日上網時間為例，用 80–120 字描述典型位置及分散，包含有效 n、單位、中位數、IQR 及所選指標的理由。</a:t>
            </a:r>
          </a:p>
          <a:p>
            <a:r>
              <a:t>附上調查年份、青年樣本不等於在校學生、未加權且不能代表今日母體的限制。</a:t>
            </a:r>
          </a:p>
          <a:p/>
          <a:p>
            <a:r>
              <a:t>完整教材與互動：https://knut921.github.io/datamining-course/week03.html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保留原始「每日使用網路分鐘」的 212 筆有效值，另建實驗副本。</a:t>
            </a:r>
          </a:p>
          <a:p>
            <a:r>
              <a:t>只在副本加入一筆 1,440 分鐘／日的假設觀察值，明確標示是假設值，不是新受訪者。</a:t>
            </a:r>
          </a:p>
          <a:p>
            <a:r>
              <a:t>比較加入前後的 n、平均數、中位數、樣本標準差及各項變化量。</a:t>
            </a:r>
          </a:p>
          <a:p>
            <a:r>
              <a:t>再用教學假設小樣本 [30,45,60,75,90] 加入相同的 1,440，重做比較。</a:t>
            </a:r>
          </a:p>
          <a:p>
            <a:r>
              <a:t>說明為什麼兩種樣本大小的變化幅度不同；不要宣稱中位數永遠不會改變。</a:t>
            </a:r>
          </a:p>
          <a:p>
            <a:r>
              <a:t>若真實資料出現一天 1,440 分鐘的作答，列出應回查的題意、時間單位及登錄內容。</a:t>
            </a:r>
          </a:p>
          <a:p/>
          <a:p>
            <a:r>
              <a:t>完整教材與互動：https://knut921.github.io/datamining-course/week03.html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/ Deliver &amp; reflect</a:t>
            </a:r>
          </a:p>
          <a:p>
            <a:r>
              <a:t>本週交件：敘述統計摘要</a:t>
            </a:r>
          </a:p>
          <a:p>
            <a:r>
              <a:t>把結果整理成一頁</a:t>
            </a:r>
          </a:p>
          <a:p>
            <a:r>
              <a:t>四個時間變項的統計表，含有效 n、缺失、平均數、中位數、最小／最大值、Q1、Q3、樣本標準差。</a:t>
            </a:r>
          </a:p>
          <a:p>
            <a:r>
              <a:t>統一每日單位後的差距比較，以及「哪個差最多」的說明。</a:t>
            </a:r>
          </a:p>
          <a:p>
            <a:r>
              <a:t>加入假設極端值前後的比較表，附上你的解釋。</a:t>
            </a:r>
          </a:p>
          <a:p>
            <a:r>
              <a:t>80–120 字的典型位置描述，寫明指標選擇與至少兩項資料限制。</a:t>
            </a:r>
          </a:p>
          <a:p>
            <a:r>
              <a:t>繳交一頁成果（文件或網頁）與完整 AI 提示語紀錄。保留原始檔及實驗副本。</a:t>
            </a:r>
          </a:p>
          <a:p>
            <a:r>
              <a:t>下載成果填寫模板（Markdown）↓</a:t>
            </a:r>
          </a:p>
          <a:p>
            <a:r>
              <a:t>交件前逐項確認</a:t>
            </a:r>
          </a:p>
          <a:p>
            <a:r>
              <a:t>四個變項都有完整摘要，並列出各自的有效 n 與缺失 n。</a:t>
            </a:r>
          </a:p>
          <a:p>
            <a:r>
              <a:t>NA 沒有被補成 0；0 分鐘仍被視為有效值。</a:t>
            </a:r>
          </a:p>
          <a:p>
            <a:r>
              <a:t>原始表保留每日／每週單位；跨變項比較先換成每日。</a:t>
            </a:r>
          </a:p>
          <a:p>
            <a:r>
              <a:t>使用未加權樣本統計，標準差為 n−1，四分位數方法已註明。</a:t>
            </a:r>
          </a:p>
          <a:p>
            <a:r>
              <a:t>極端值實驗有前後比較，假設值與原始資料分開。</a:t>
            </a:r>
          </a:p>
          <a:p>
            <a:r>
              <a:t>「典型位置」的指標選擇有理由，並附上分散指標。</a:t>
            </a:r>
          </a:p>
          <a:p>
            <a:r>
              <a:t>來源、2015 年份與青年樣本限制已寫進成果。</a:t>
            </a:r>
          </a:p>
          <a:p>
            <a:r>
              <a:t>原始資料、完整 AI 提示語與成果都已保存。</a:t>
            </a:r>
          </a:p>
          <a:p>
            <a:r>
              <a:t>教師參考｜100 分鐘課堂流程</a:t>
            </a:r>
          </a:p>
          <a:p>
            <a:r>
              <a:t>0–10′</a:t>
            </a:r>
          </a:p>
          <a:p>
            <a:r>
              <a:t>提問「平均上網四小時，等於大家都上網四小時嗎？」</a:t>
            </a:r>
          </a:p>
          <a:p>
            <a:r>
              <a:t>10–30′</a:t>
            </a:r>
          </a:p>
          <a:p>
            <a:r>
              <a:t>微講授六個指標，操作兩組同平均、不同分散的小例子。</a:t>
            </a:r>
          </a:p>
          <a:p>
            <a:r>
              <a:t>30–45′</a:t>
            </a:r>
          </a:p>
          <a:p>
            <a:r>
              <a:t>檢查 CSV 的 NA、時間單位與權數；執行任務 A。</a:t>
            </a:r>
          </a:p>
          <a:p>
            <a:r>
              <a:t>45–65′</a:t>
            </a:r>
          </a:p>
          <a:p>
            <a:r>
              <a:t>比較每日時間與平均／中位數差距；完成任務 B。</a:t>
            </a:r>
          </a:p>
          <a:p>
            <a:r>
              <a:t>65–85′</a:t>
            </a:r>
          </a:p>
          <a:p>
            <a:r>
              <a:t>操作極端值實驗，切換樣本數，完成任務 C。</a:t>
            </a:r>
          </a:p>
          <a:p>
            <a:r>
              <a:t>85–100′</a:t>
            </a:r>
          </a:p>
          <a:p>
            <a:r>
              <a:t>完成摘要、兩兩互評，銜接下週分布與箱型圖。</a:t>
            </a:r>
          </a:p>
          <a:p/>
          <a:p>
            <a:r>
              <a:t>完整教材與互動：https://knut921.github.io/datamining-course/week03.html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/ Meet the data</a:t>
            </a:r>
          </a:p>
          <a:p>
            <a:r>
              <a:t>本週資料：青年媒體時間</a:t>
            </a:r>
          </a:p>
          <a:p>
            <a:r>
              <a:t>2015 臺灣社會變遷基本調查的青年子集，212 筆、8 欄。篩選條件為 18–24 歲；這份 CSV 實際年齡為 19–24 歲。</a:t>
            </a:r>
          </a:p>
          <a:p>
            <a:r>
              <a:t>先認識資料，再交給 AI</a:t>
            </a:r>
          </a:p>
          <a:p>
            <a:r>
              <a:t>一列代表一位受訪者。資料記錄網路、電視、報紙與雜誌的使用時間，</a:t>
            </a:r>
          </a:p>
          <a:p>
            <a:r>
              <a:t>沒有讀書、打工或通勤時間，也無法用本檔判定誰仍是在校學生</a:t>
            </a:r>
          </a:p>
          <a:p>
            <a:r>
              <a:t>。課程以學生生活提問，結論則應寫成「本份青年樣本」。</a:t>
            </a:r>
          </a:p>
          <a:p>
            <a:r>
              <a:t>下載本週 CSV ↓</a:t>
            </a:r>
          </a:p>
          <a:p>
            <a:r>
              <a:t>欄位字典與資料檢查</a:t>
            </a:r>
          </a:p>
          <a:p>
            <a:r>
              <a:t>欄位</a:t>
            </a:r>
          </a:p>
          <a:p>
            <a:r>
              <a:t>角色／單位</a:t>
            </a:r>
          </a:p>
          <a:p>
            <a:r>
              <a:t>分析前要知道</a:t>
            </a:r>
          </a:p>
          <a:p>
            <a:r>
              <a:t>樣本編號</a:t>
            </a:r>
          </a:p>
          <a:p>
            <a:r>
              <a:t>識別碼</a:t>
            </a:r>
          </a:p>
          <a:p>
            <a:r>
              <a:t>只用來定位個案，不計算平均。</a:t>
            </a:r>
          </a:p>
          <a:p>
            <a:r>
              <a:t>性別、年齡</a:t>
            </a:r>
          </a:p>
          <a:p>
            <a:r>
              <a:t>背景欄位</a:t>
            </a:r>
          </a:p>
          <a:p>
            <a:r>
              <a:t>本週不做群體推論。</a:t>
            </a:r>
          </a:p>
          <a:p>
            <a:r>
              <a:t>每日閱讀報紙分鐘</a:t>
            </a:r>
          </a:p>
          <a:p>
            <a:r>
              <a:t>分鐘／日</a:t>
            </a:r>
          </a:p>
          <a:p>
            <a:r>
              <a:t>210 筆有效，2 筆 NA。</a:t>
            </a:r>
          </a:p>
          <a:p>
            <a:r>
              <a:t>每日看電視分鐘</a:t>
            </a:r>
          </a:p>
          <a:p>
            <a:r>
              <a:t>分鐘／日</a:t>
            </a:r>
          </a:p>
          <a:p>
            <a:r>
              <a:t>212 筆有效，無缺失。</a:t>
            </a:r>
          </a:p>
          <a:p>
            <a:r>
              <a:t>每日使用網路分鐘</a:t>
            </a:r>
          </a:p>
          <a:p>
            <a:r>
              <a:t>分鐘／日</a:t>
            </a:r>
          </a:p>
          <a:p>
            <a:r>
              <a:t>212 筆有效，無缺失。</a:t>
            </a:r>
          </a:p>
          <a:p>
            <a:r>
              <a:t>每週閱讀雜誌分鐘</a:t>
            </a:r>
          </a:p>
          <a:p>
            <a:r>
              <a:t>分鐘／週</a:t>
            </a:r>
          </a:p>
          <a:p>
            <a:r>
              <a:t>211 筆有效，1 筆 NA；跨變項比較時另除以 7。</a:t>
            </a:r>
          </a:p>
          <a:p>
            <a:r>
              <a:t>抽樣權數</a:t>
            </a:r>
          </a:p>
          <a:p>
            <a:r>
              <a:t>調查權重</a:t>
            </a:r>
          </a:p>
          <a:p>
            <a:r>
              <a:t>保留但不套用於本週基礎示範；不能據此宣稱母體平均。</a:t>
            </a:r>
          </a:p>
          <a:p>
            <a:r>
              <a:t>0 和 NA 是兩件事。</a:t>
            </a:r>
          </a:p>
          <a:p>
            <a:r>
              <a:t>0 分鐘是有效作答；NA 是缺失，應逐欄排除並報告有效 n。不要把 NA 補成 0，也不要為了某欄缺失而刪掉整位受訪者的其他有效作答。</a:t>
            </a:r>
          </a:p>
          <a:p>
            <a:r>
              <a:t>來源：中央研究院社會學研究所「2015 臺灣社會變遷基本調查（第七期第一次）」。</a:t>
            </a:r>
          </a:p>
          <a:p>
            <a:r>
              <a:t>資料下載與使用說明 ↗</a:t>
            </a:r>
          </a:p>
          <a:p>
            <a:r>
              <a:t>。限學術用途、禁止商用，成果須註明來源。</a:t>
            </a:r>
          </a:p>
          <a:p/>
          <a:p>
            <a:r>
              <a:t>完整教材與互動：https://knut921.github.io/datamining-course/week03.html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knut921.github.io/datamining-course/week03.html#lab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knut921.github.io/datamining-course/week03.html#tasks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knut921.github.io/datamining-course/week03.html#task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knut921.github.io/datamining-course/week03.html#task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knut921.github.io/datamining-course/week03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4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學生一週花多少時間？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107899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描述典型位置，也描述資料有多分散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297680"/>
            <a:ext cx="10835640" cy="36576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800600"/>
            <a:ext cx="10835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概念微講授  →  資料實作  →  AI 任務  →  人工覆核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本週學習目標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比較平均數與中位數，說明典型位置。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搭配標準差與四分位距，呈現分散程度。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用假設極端值實驗，解釋統計量為何改變。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中心與分散要一起看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平均數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總和除以有效 n；容易受到少數大值影響。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中位數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排序後的中間位置，適合搭配偏態資料討論。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樣本標準差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描述數值離平均的分散程度，採 n−1。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四分位距 IQR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Q3−Q1，描述中間約一半資料的跨度。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本週資料：青年媒體時間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212 筆、8 欄；不是讀書、打工或通勤時間。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報紙有效 210、電視 212、網路 212、雜誌 211 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0 為有效作答，NA 按欄排除，不填成 0。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本週示範未加權，不能稱為全體青年的母體平均。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先核對四個時間變項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965960"/>
          <a:ext cx="10972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8463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變項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有效 n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平均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中位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標準差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報紙／日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210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6.73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0.00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14.82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電視／日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212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102.83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75.00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95.25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網路／日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212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254.86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240.00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154.68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雜誌／週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211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41.82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0.00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131.76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016752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單位：分鐘；各列仍是原始時間基準，不能直接跨列比較。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先統一單位，再比較差距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965960"/>
          <a:ext cx="10972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84632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每日分鐘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平均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中位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絕對差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看電視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102.83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75.00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27.83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使用網路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254.86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240.00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14.86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閱讀報紙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6.73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0.00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6.73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閱讀雜誌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5.97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0.00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5.97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016752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雜誌每週分鐘除以 7 是日均換算，不是每天的實測值。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一段合格的典型位置描述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本份 2015 青年樣本：上網中位數 240 分鐘／日。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平均數 254.86，樣本標準差 154.68，n=212。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Q1=150、Q3=330，IQR=180 分鐘／日。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中心與分散一起寫；不推論成今日所有大學生。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極端值實驗：只改實驗副本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先記錄原始平均數、中位數與標準差。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加入一筆假設的高值，再算一次。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比較小型教學樣本與真實 212 筆樣本的反應。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假設值不寫回原 CSV；說明樣本數與影響程度。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課堂操作｜觀察三項統計量的改變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7899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先預測：哪個指標會變最多？</a:t>
            </a:r>
          </a:p>
          <a:p>
            <a:pPr>
              <a:spcAft>
                <a:spcPts val="1000"/>
              </a:spcAft>
              <a:defRPr sz="26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操作後：用前後數字解釋預測是否成立。</a:t>
            </a:r>
          </a:p>
          <a:p>
            <a:pPr>
              <a:spcAft>
                <a:spcPts val="1000"/>
              </a:spcAft>
              <a:defRPr sz="26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回頭想：單靠平均數，會漏掉什麼？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開啟極端值互動實驗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本週交件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四個時間變項的完整敘述統計表。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統一每日單位的比較，說明哪個差距最大。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假設極端值加入前後的比較表與解釋。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80–120 字摘要，附至少兩項資料限制。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AI 任務 A｜執行與覆核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A · 資料健檢與敘述統計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88136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完整提示語已放在本頁「備忘稿」，可直接複製。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執行後核對筆數、單位、分母與缺失處理。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保存 AI 原始產出與人工修正紀錄。</a:t>
            </a:r>
          </a:p>
        </p:txBody>
      </p:sp>
      <p:sp>
        <p:nvSpPr>
          <p:cNvPr id="9" name="Rectangle 8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開啟網頁任務單 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AI 任務 B｜執行與覆核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B · 統一單位，再比較差距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88136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完整提示語已放在本頁「備忘稿」，可直接複製。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執行後核對筆數、單位、分母與缺失處理。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保存 AI 原始產出與人工修正紀錄。</a:t>
            </a:r>
          </a:p>
        </p:txBody>
      </p:sp>
      <p:sp>
        <p:nvSpPr>
          <p:cNvPr id="9" name="Rectangle 8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開啟網頁任務單 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AI 任務 C｜執行與覆核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C · 加入一筆假設極端值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88136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完整提示語已放在本頁「備忘稿」，可直接複製。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執行後核對筆數、單位、分母與缺失處理。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保存 AI 原始產出與人工修正紀錄。</a:t>
            </a:r>
          </a:p>
        </p:txBody>
      </p:sp>
      <p:sp>
        <p:nvSpPr>
          <p:cNvPr id="9" name="Rectangle 8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開啟網頁任務單 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交件前，自己再確認一次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數字能回到原始資料，已人工覆核至少一項。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圖表標示變項、單位、有效 n、年份與資料來源。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把資料事實、可能解釋與不能推論的內容分開。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保留完整提示語、原始資料及分析與修正紀錄。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資料來源與延伸操作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881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中央研究院 2015 臺灣社會變遷基本調查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18–24 歲篩選子集；本檔實際觀察為 19–24 歲。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僅限學術用途、禁止商業使用；成果請註明來源。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開啟完整教材、下載 CSV 與操作互動實驗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3｜學生一週花多少時間？</dc:title>
  <dc:subject>資料探勘課程教材</dc:subject>
  <dc:creator>郭毓倫｜臺北市立大學公共事務學系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