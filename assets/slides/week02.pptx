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70" r:id="rId2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Antigravity 任務單（自然語言提示語）</a:t>
            </a:r>
          </a:p>
          <a:p>
            <a:r>
              <a:t>依序貼給 Antigravity，每步拿到結果先自己覆核。保留完整提示語作為評量依據。</a:t>
            </a:r>
          </a:p>
          <a:p>
            <a:r>
              <a:t>任務 A · 產生五個變項的次數與加權百分比表</a:t>
            </a:r>
          </a:p>
          <a:p>
            <a:r>
              <a:t>貼給 Antigravity</a:t>
            </a:r>
          </a:p>
          <a:p>
            <a:r>
              <a:t>請讀取「臺灣青年人口輪廓.csv」，對以下五個變項分別做次數分配表：性別、年齡、地區代碼、教育程度、是否完成學業。</a:t>
            </a:r>
          </a:p>
          <a:p>
            <a:r>
              <a:t>每張表要有欄位：選項、次數 n、未加權百分比、加權百分比（加權欄請用「抽樣權數」計算）。</a:t>
            </a:r>
          </a:p>
          <a:p>
            <a:r>
              <a:t>規則：</a:t>
            </a:r>
          </a:p>
          <a:p>
            <a:r>
              <a:t>- 缺失值、"Don't know"、"Not applicable" 各自單獨列一行，不要併入其他選項，也不要當成 0。</a:t>
            </a:r>
          </a:p>
          <a:p>
            <a:r>
              <a:t>- 每張表最後一行為合計，並回報未加權與加權百分比的總和。</a:t>
            </a:r>
          </a:p>
          <a:p>
            <a:r>
              <a:t>- 標出每個變項的眾數。</a:t>
            </a:r>
          </a:p>
          <a:p>
            <a:r>
              <a:t>- 「地區代碼」「年齡」請當成類別處理，不要計算平均。</a:t>
            </a:r>
          </a:p>
          <a:p>
            <a:r>
              <a:t>先輸出五張表，不要下任何解讀結論。</a:t>
            </a:r>
          </a:p>
          <a:p>
            <a:r>
              <a:t>你要覆核：</a:t>
            </a:r>
          </a:p>
          <a:p>
            <a:r>
              <a:t>對照本頁「示範」數字；自己在試算表用篩選 / 樞紐分析重算「性別」與「地區代碼」兩張表。</a:t>
            </a:r>
          </a:p>
          <a:p>
            <a:r>
              <a:t>任務 B · 繪製長條圖並檢查百分比總和</a:t>
            </a:r>
          </a:p>
          <a:p>
            <a:r>
              <a:t>貼給 Antigravity</a:t>
            </a:r>
          </a:p>
          <a:p>
            <a:r>
              <a:t>根據上一步的五張表，繪製對應的長條圖：</a:t>
            </a:r>
          </a:p>
          <a:p>
            <a:r>
              <a:t>- 每張圖都要有標題、座標軸標籤、百分比單位，並在圖下註明「資料來源：中研院 2015 臺灣社會變遷基本調查，n=212」。</a:t>
            </a:r>
          </a:p>
          <a:p>
            <a:r>
              <a:t>- 教育程度請用水平長條圖、由高到低排序，僅 1–2 人的選項合併為「其他」並在說明中列出內容。</a:t>
            </a:r>
          </a:p>
          <a:p>
            <a:r>
              <a:t>- 性別可另做一張圓餅圖示範；其餘變項不要用圓餅圖，並簡短說明原因。</a:t>
            </a:r>
          </a:p>
          <a:p>
            <a:r>
              <a:t>- 逐張回報：該圖百分比加總是否等於 100%（容許四捨五入 ±0.2）。若不等於，指出原因。</a:t>
            </a:r>
          </a:p>
          <a:p>
            <a:r>
              <a:t>你要覆核：</a:t>
            </a:r>
          </a:p>
          <a:p>
            <a:r>
              <a:t>圖上的長度排序和表格數字一致嗎？標題、單位、來源齊全嗎？百分比總和有沒有落在 99.8–100.2%？</a:t>
            </a:r>
          </a:p>
          <a:p>
            <a:r>
              <a:t>任務 C · 撰寫樣本輪廓圖卡文字</a:t>
            </a:r>
          </a:p>
          <a:p>
            <a:r>
              <a:t>貼給 Antigravity</a:t>
            </a:r>
          </a:p>
          <a:p>
            <a:r>
              <a:t>請根據上述次數表，寫一段 3–4 句的「樣本輪廓」描述，只陳述資料事實（性別比例、年齡集中區間、居住地區前三名、教育程度分布、畢業比例），</a:t>
            </a:r>
          </a:p>
          <a:p>
            <a:r>
              <a:t>數字以加權百分比為主、並在括號附實際人數。不要加入因果或評價。</a:t>
            </a:r>
          </a:p>
          <a:p>
            <a:r>
              <a:t>接著另外寫 2 項「抽樣限制」，句型為「因為……，所以本樣本不能代表……」，方向包含：</a:t>
            </a:r>
          </a:p>
          <a:p>
            <a:r>
              <a:t>(1) 僅涵蓋 18–24 歲、且為 2015 年調查；(2) 各地區與部分學歷組樣本數偏少；(3) 是否完成學業有 16% 未作答。</a:t>
            </a:r>
          </a:p>
          <a:p>
            <a:r>
              <a:t>你要覆核：</a:t>
            </a:r>
          </a:p>
          <a:p>
            <a:r>
              <a:t>描述裡每個數字都能在你的表格找到嗎？有沒有偷偷寫成因果？限制是否為完整句並點出「不能代表誰」？</a:t>
            </a:r>
          </a:p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結果檢核表（交件前逐項打勾）</a:t>
            </a:r>
          </a:p>
          <a:p>
            <a:r>
              <a:t>五張次數分配表都有：選項、n、未加權 %、加權 %、合計、眾數。</a:t>
            </a:r>
          </a:p>
          <a:p>
            <a:r>
              <a:t>缺失值 / Don't know / Not applicable 各自單列，沒有被當成 0 或併入其他選項。</a:t>
            </a:r>
          </a:p>
          <a:p>
            <a:r>
              <a:t>每張表的百分比總和落在 99.8%–100.2%（四捨五入誤差內）。</a:t>
            </a:r>
          </a:p>
          <a:p>
            <a:r>
              <a:t>已比較「地區代碼」加權前後的差異，並用加權值敘述地區分布。</a:t>
            </a:r>
          </a:p>
          <a:p>
            <a:r>
              <a:t>教育程度用長條圖呈現，小類已合併「其他」並註明內容；沒有用圓餅圖硬塞多類別。</a:t>
            </a:r>
          </a:p>
          <a:p>
            <a:r>
              <a:t>每張圖都有標題、座標軸、單位與資料來源（含 n=212）。</a:t>
            </a:r>
          </a:p>
          <a:p>
            <a:r>
              <a:t>樣本輪廓文字只有事實、沒有因果；附了 2 項「因為…所以不能代表…」的限制。</a:t>
            </a:r>
          </a:p>
          <a:p>
            <a:r>
              <a:t>完整提示語（任務 A/B/C）已保存，另一位同學可依此重現同一張輪廓圖卡。</a:t>
            </a:r>
          </a:p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認識本週資料：臺灣青年人口輪廓.csv</a:t>
            </a:r>
          </a:p>
          <a:p>
            <a:r>
              <a:t>與第 1 週同一批受訪者（中研院 2015 臺灣社會變遷基本調查 18–24 歲子集，212 筆），本週只保留人口背景 7 欄。</a:t>
            </a:r>
          </a:p>
          <a:p>
            <a:r>
              <a:t>↓ 開啟原始 CSV</a:t>
            </a:r>
          </a:p>
          <a:p>
            <a:r>
              <a:t>欄位</a:t>
            </a:r>
          </a:p>
          <a:p>
            <a:r>
              <a:t>型態</a:t>
            </a:r>
          </a:p>
          <a:p>
            <a:r>
              <a:t>說明</a:t>
            </a:r>
          </a:p>
          <a:p>
            <a:r>
              <a:t>備註</a:t>
            </a:r>
          </a:p>
          <a:p>
            <a:r>
              <a:t>樣本編號</a:t>
            </a:r>
          </a:p>
          <a:p>
            <a:r>
              <a:t>識別碼</a:t>
            </a:r>
          </a:p>
          <a:p>
            <a:r>
              <a:t>受訪者唯一代碼</a:t>
            </a:r>
          </a:p>
          <a:p>
            <a:r>
              <a:t>212 個皆相異</a:t>
            </a:r>
          </a:p>
          <a:p>
            <a:r>
              <a:t>性別</a:t>
            </a:r>
          </a:p>
          <a:p>
            <a:r>
              <a:t>類別</a:t>
            </a:r>
          </a:p>
          <a:p>
            <a:r>
              <a:t>Male / Female</a:t>
            </a:r>
          </a:p>
          <a:p>
            <a:r>
              <a:t>無缺失</a:t>
            </a:r>
          </a:p>
          <a:p>
            <a:r>
              <a:t>年齡</a:t>
            </a:r>
          </a:p>
          <a:p>
            <a:r>
              <a:t>數值</a:t>
            </a:r>
          </a:p>
          <a:p>
            <a:r>
              <a:t>／可當順序類別</a:t>
            </a:r>
          </a:p>
          <a:p>
            <a:r>
              <a:t>19–24 足歲</a:t>
            </a:r>
          </a:p>
          <a:p>
            <a:r>
              <a:t>本週依年齡分組數次數，當作有順序的類別看待</a:t>
            </a:r>
          </a:p>
          <a:p>
            <a:r>
              <a:t>地區代碼</a:t>
            </a:r>
          </a:p>
          <a:p>
            <a:r>
              <a:t>類別</a:t>
            </a:r>
          </a:p>
          <a:p>
            <a:r>
              <a:t>居住縣市代碼 1–6，</a:t>
            </a:r>
          </a:p>
          <a:p>
            <a:r>
              <a:t>不可平均</a:t>
            </a:r>
          </a:p>
          <a:p>
            <a:r>
              <a:t>加權前後差異明顯</a:t>
            </a:r>
          </a:p>
          <a:p>
            <a:r>
              <a:t>教育程度</a:t>
            </a:r>
          </a:p>
          <a:p>
            <a:r>
              <a:t>類別</a:t>
            </a:r>
          </a:p>
          <a:p>
            <a:r>
              <a:t>在學或最高學歷，共 11 種取值</a:t>
            </a:r>
          </a:p>
          <a:p>
            <a:r>
              <a:t>1 筆為「Don't know」，末段數類僅 1–2 人</a:t>
            </a:r>
          </a:p>
          <a:p>
            <a:r>
              <a:t>是否完成學業</a:t>
            </a:r>
          </a:p>
          <a:p>
            <a:r>
              <a:t>類別</a:t>
            </a:r>
          </a:p>
          <a:p>
            <a:r>
              <a:t>已畢業／仍在學／肄業</a:t>
            </a:r>
          </a:p>
          <a:p>
            <a:r>
              <a:t>34 筆為「Not applicable」，算百分比時分母要講清楚</a:t>
            </a:r>
          </a:p>
          <a:p>
            <a:r>
              <a:t>抽樣權數</a:t>
            </a:r>
          </a:p>
          <a:p>
            <a:r>
              <a:t>數值</a:t>
            </a:r>
          </a:p>
          <a:p>
            <a:r>
              <a:t>加權用係數，約 0.69–1.29</a:t>
            </a:r>
          </a:p>
          <a:p>
            <a:r>
              <a:t>不是受訪者特徵，不要拿去做輪廓</a:t>
            </a:r>
          </a:p>
          <a:p>
            <a:r>
              <a:t>使用限制（務必寫進成果）：</a:t>
            </a:r>
          </a:p>
          <a:p>
            <a:r>
              <a:t>資料來源為「中央研究院社會學研究所，2015 臺灣社會變遷基本調查」，僅限學術用途、禁止商業使用，成果須註明來源。</a:t>
            </a:r>
          </a:p>
          <a:p/>
          <a:p>
            <a:r>
              <a:t>完整教材與互動：https://knut921.github.io/datamining-course/week02.html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完整教材與互動：https://knut921.github.io/datamining-course/week02.html</a:t>
            </a:r>
          </a:p>
          <a:p>
            <a:r>
              <a:t>原始 CSV：https://knut921.github.io/datamining-course/data/臺灣青年人口輪廓.csv</a:t>
            </a:r>
          </a:p>
          <a:p>
            <a:r>
              <a:t>本頁只展示原檔前五筆，不代表整份資料的分布；未排序、未翻譯標籤、未四捨五入或改寫数值。</a:t>
            </a:r>
          </a:p>
          <a:p>
            <a:r>
              <a:t>全部欄位及前五筆原始紀錄：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"樣本編號": "106117",</a:t>
            </a:r>
          </a:p>
          <a:p>
            <a:r>
              <a:t>    "性別": "Female",</a:t>
            </a:r>
          </a:p>
          <a:p>
            <a:r>
              <a:t>    "年齡": "23",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"Yes, I graduated",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"106208",</a:t>
            </a:r>
          </a:p>
          <a:p>
            <a:r>
              <a:t>    "性別": "Female",</a:t>
            </a:r>
          </a:p>
          <a:p>
            <a:r>
              <a:t>    "年齡": "21",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"No, I didn't graduate",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"110116",</a:t>
            </a:r>
          </a:p>
          <a:p>
            <a:r>
              <a:t>    "性別": "Male",</a:t>
            </a:r>
          </a:p>
          <a:p>
            <a:r>
              <a:t>    "年齡": "19",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"Not applicable",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"110119",</a:t>
            </a:r>
          </a:p>
          <a:p>
            <a:r>
              <a:t>    "性別": "Male",</a:t>
            </a:r>
          </a:p>
          <a:p>
            <a:r>
              <a:t>    "年齡": "24",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"Yes, I graduated",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"110219",</a:t>
            </a:r>
          </a:p>
          <a:p>
            <a:r>
              <a:t>    "性別": "Male",</a:t>
            </a:r>
          </a:p>
          <a:p>
            <a:r>
              <a:t>    "年齡": "19",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"No, I am still a student",</a:t>
            </a:r>
          </a:p>
          <a:p>
            <a:r>
              <a:t>    "抽樣權數": "0.807775334231511"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nut921.github.io/datamining-course/week02.html#tas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knut921.github.io/datamining-course/week02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nut921.github.io/datamining-course/data/&#33274;&#28771;&#38738;&#24180;&#20154;&#21475;&#36650;&#24275;.csv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誰是我們的受訪者？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把次數、百分比與權數整理成樣本輪廓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產生類別變項的次數、百分比與眾數。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分清未加權人數與加權百分比。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選擇適當圖表，寫出樣本輪廓及限制。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三個基本詞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次數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一個選項出現幾次；男性為 107 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百分比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次數 ÷ 分母 × 100；先說清楚分母。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眾數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出現最多的選項；年齡眾數是 19 歲。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有效樣本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排除無效回答後，分母可能小於全體 212 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本週資料：同一批青年，聚焦人口背景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212 筆、7 欄；一列是一位受訪者。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分析性別、年齡、地區、教育與是否完成學業。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識別碼用來追查；權數用於加權，不當成背景。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地區代碼未解碼前，用代碼呈現，不猜地名。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性別分配：人數先行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群組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人數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未加權 %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男性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107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50.5%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女性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105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49.5%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合計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212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100.0%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百分比取至小數 1 位；n 是實際受訪人數。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年齡分配：眾數為 19 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19 歲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103120"/>
            <a:ext cx="600074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84030" y="210312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45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883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20 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88336"/>
            <a:ext cx="293369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6980" y="2688336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22 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21 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273552"/>
            <a:ext cx="413384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7130" y="327355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31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22 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858768"/>
            <a:ext cx="520064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3930" y="385876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39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43983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23 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443983"/>
            <a:ext cx="466724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0530" y="444398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35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24 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5029200"/>
            <a:ext cx="5334000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7280" y="502920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來源：2015 臺灣社會變遷基本調查青年子集，未加權 n=212。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加權百分比：不是把人數變多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加權 %＝該類別的權數和 ÷ 有效總權數和 × 100。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未加權 n 仍是實際人數；權數總和不叫受訪人數。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加權與未加權分開標示，不能混用分母。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權數調整後仍有年份、篩選與非回應限制。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同一個分子，分母不同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是否完成學業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人數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分母 212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分母 178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已畢業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99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46.7%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55.6%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仍在學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60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28.3%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33.7%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肄業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9.0%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10.7%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Not applicable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34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16.0%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排除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以上為未加權百分比；178＝212−34。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長條圖，還是圓餅圖？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長條圖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適合比較類別，類別多也能排序閱讀。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圓餅圖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只在少數互斥類別、完整組成且合計 100% 時考慮。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缺失單列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不要把不知道併成實質類別，或默默刪掉。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圖上要寫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標題、單位、n、分母、年份及資料來源。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課堂練習｜改寫一段輪廓描述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比較同一變項的未加權與加權百分比。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說出分母是否排除缺失或不適用回答。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 3–4 句描述組成，避免把樣本當所有青年。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加兩句抽樣限制；不能只靠權數就宣稱代表所有人。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五個人口變項的次數與加權百分比表。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至少三張長條圖：性別、地區及教育程度。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3–4 句資料事實敘述，另附兩項抽樣限制。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一頁樣本輪廓圖卡與完整 AI 提示語。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任務單｜依序執行、逐項覆核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A｜資料盤點與計算</a:t>
            </a:r>
          </a:p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B｜提出問題或繪製圖表</a:t>
            </a:r>
          </a:p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C｜整理發現與資料限制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開啟網頁，複製完整提示語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中央研究院 2015 臺灣社會變遷基本調查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18–24 歲篩選子集；本檔實際觀察為 19–24 歲。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僅限學術用途、禁止商業使用；成果請註明來源。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t>DATA MINING  /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20283F"/>
                </a:solidFill>
                <a:latin typeface="PingFang TC"/>
              </a:defRPr>
            </a:pPr>
            <a:r>
              <a:t>範例檔原始資料｜先看資料長什麼樣子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B4A8C"/>
                </a:solidFill>
                <a:latin typeface="PingFang TC"/>
              </a:defRPr>
            </a:pPr>
            <a:r>
              <a:t>臺灣青年人口輪廓.csv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75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596078"/>
                </a:solidFill>
                <a:latin typeface="PingFang TC"/>
              </a:defRPr>
            </a:pPr>
            <a:r>
              <a:t>原檔 212 筆、7 欄｜下表依原順序顯示前 5 筆、全部欄位；欄名與儲存格保留原值。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587752"/>
          <a:ext cx="10972796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03"/>
                <a:gridCol w="798021"/>
                <a:gridCol w="648392"/>
                <a:gridCol w="947650"/>
                <a:gridCol w="2992581"/>
                <a:gridCol w="2344189"/>
                <a:gridCol w="219456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樣本編號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性別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年齡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地區代碼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教育程度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是否完成學業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抽樣權數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106117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Female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College (continue with 6a2)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Yes, I graduated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0.807775334231511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106208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Female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College (continue with 6a2)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No, I didn't graduate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0.807775334231511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110116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College (continue with 6a2)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Not applicable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0.807775334231511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110119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College (continue with 6a2)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Yes, I graduated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0.807775334231511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110219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College (continue with 6a2)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No, I am still a student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0.807775334231511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53212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B4A8C"/>
                </a:solidFill>
                <a:latin typeface="PingFang TC"/>
              </a:defRPr>
            </a:pPr>
            <a:r>
              <a:t>一起找：一列是誰？教育程度與權數各扮演什麼角色？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594360" y="60076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B4A8C"/>
                </a:solidFill>
                <a:latin typeface="PingFang TC"/>
              </a:defRPr>
            </a:pPr>
            <a:r>
              <a:t>開啟完整原始 CSV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t>臺北市立大學 公共事務學系｜郭毓倫 · 資料探勘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2｜誰是我們的受訪者？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