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請讀取我上傳的「雙北住宅租金分布.csv」，保留原始資料，不自動刪除極端值。</a:t>
            </a:r>
          </a:p>
          <a:p>
            <a:r>
              <a:t>1. 核對總筆數、縣市筆數、日期範圍，以及月租金元／每坪月租金元的缺失與非正數。</a:t>
            </a:r>
          </a:p>
          <a:p>
            <a:r>
              <a:t>2. 兩個變項各畫一張等寬直方圖和一張箱型圖，共 4 圖。直方圖採 24 組、完整數值範圍，回報組界與各組筆數；另試 12 與 40 組比較外觀。</a:t>
            </a:r>
          </a:p>
          <a:p>
            <a:r>
              <a:t>3. 圖上標明指標、單位、n、來源與資料版本。下載版為民國 114 年第 4 季，不表示所有租賃日期都在該季。</a:t>
            </a:r>
          </a:p>
          <a:p>
            <a:r>
              <a:t>4. 列出 n、平均數、中位數、Q1、Q3、樣本標準差、最小值、最大值。</a:t>
            </a:r>
          </a:p>
          <a:p>
            <a:r>
              <a:t>5. 四分位數採 (n−1)×p 線性內插，標準差使用 n−1。以 Q1−1.5IQR、Q3+1.5IQR 標示候選值；鬚線畫至界線內最遠的實際值。</a:t>
            </a:r>
          </a:p>
          <a:p>
            <a:r>
              <a:t>6. 分縣市時以各縣市原始資料計算界線，說明這與全體界線不同。</a:t>
            </a:r>
          </a:p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列出月租金與每坪月租金的候選極端值，保留案件編號、縣市、行政區、原值、IQR 界線、面積、主要用途、建物型態、出租型態與租賃日期。</a:t>
            </a:r>
          </a:p>
          <a:p>
            <a:r>
              <a:t>至少檢查這兩筆：RPWNMLNJJIKGFDA97CC、RPPNMLRKIIKGFHF58CC。</a:t>
            </a:r>
          </a:p>
          <a:p>
            <a:r>
              <a:t>先描述觀察到的疑點，分開列出「已知事實」與「仍需外部佐證的假設」。</a:t>
            </a:r>
          </a:p>
          <a:p>
            <a:r>
              <a:t>核對月租／每坪月租、平方公尺／坪、出租範圍、住宅與住商用途；回算每坪租金時使用未四捨五入面積（平方公尺 ÷ 3.305785）。</a:t>
            </a:r>
          </a:p>
          <a:p>
            <a:r>
              <a:t>不得因 IQR 超界就自動刪除，不得無證據將數值除以 10 或改成中位數。</a:t>
            </a:r>
          </a:p>
          <a:p>
            <a:r>
              <a:t>產生決策表：案件編號、原值、疑點、核查證據、保留／修正／排除、理由、新值（若有）。沒有證據就寫待查或保留。</a:t>
            </a:r>
          </a:p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比較三種情境：原始全部保留、僅做有佐證的修正、依預先說明的研究範圍或品質規則排除。</a:t>
            </a:r>
          </a:p>
          <a:p>
            <a:r>
              <a:t>每種情境列出 n、平均數、中位數、Q1、Q3、樣本標準差與異動筆數。沒有佐證修正時，該欄寫「無可佐證修正，沿用原值」，不得虛構修正版。</a:t>
            </a:r>
          </a:p>
          <a:p>
            <a:r>
              <a:t>可另加「暫排 IQR 候選」作為敏感度分析，固定原始界線、不反覆刪值，且不要當作最終清理建議。</a:t>
            </a:r>
          </a:p>
          <a:p>
            <a:r>
              <a:t>另以教學假設資料 [10000,12000,14000,16000,18000,20000,22000,24000,26000,200000] 練習三種情境。假設契約已證實最後一筆應為 20000，分別比較保留、修正與排除最後一筆。</a:t>
            </a:r>
          </a:p>
          <a:p>
            <a:r>
              <a:t>將真實資料與教學假設分開呈現。最後用 80–120 字描述分布，附上處理決策與至少兩項限制；不把登錄案件解讀成今日所有學生租屋市場。</a:t>
            </a:r>
          </a:p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/ Deliver &amp; reflect</a:t>
            </a:r>
          </a:p>
          <a:p>
            <a:r>
              <a:t>本週交件：分布與異常值報告</a:t>
            </a:r>
          </a:p>
          <a:p>
            <a:r>
              <a:t>一頁報告，附上可追查的附件</a:t>
            </a:r>
          </a:p>
          <a:p>
            <a:r>
              <a:t>月租金與每坪月租金的直方圖、箱型圖，共 4 圖。標示單位、樣本數、來源及界線。</a:t>
            </a:r>
          </a:p>
          <a:p>
            <a:r>
              <a:t>至少兩筆候選案件的核查卡：疑點、核查證據、處理決定與理由。</a:t>
            </a:r>
          </a:p>
          <a:p>
            <a:r>
              <a:t>保留、可佐證修正、依規則排除的摘要比較。無修正證據時標示「無可佐證修正」，不虛構修正版。</a:t>
            </a:r>
          </a:p>
          <a:p>
            <a:r>
              <a:t>用 80–120 字描述分布，並指出登錄樣本與學生租屋市場的差別。</a:t>
            </a:r>
          </a:p>
          <a:p>
            <a:r>
              <a:t>附件保留完整 AI 提示語、候選值清單與決策紀錄。若做 IQR 暫排比較，明確標為敏感度分析。</a:t>
            </a:r>
          </a:p>
          <a:p>
            <a:r>
              <a:t>下載成果填寫模板（Markdown）↓</a:t>
            </a:r>
          </a:p>
          <a:p>
            <a:r>
              <a:t>交件前逐項確認</a:t>
            </a:r>
          </a:p>
          <a:p>
            <a:r>
              <a:t>月租金與每坪月租金各有直方圖、箱型圖，共 4 圖。</a:t>
            </a:r>
          </a:p>
          <a:p>
            <a:r>
              <a:t>各圖標示單位、n、完整範圍、來源與資料版本。</a:t>
            </a:r>
          </a:p>
          <a:p>
            <a:r>
              <a:t>四分位數、IQR 界線、候選值數量與基準表對得上。</a:t>
            </a:r>
          </a:p>
          <a:p>
            <a:r>
              <a:t>至少兩筆案件有單位、面積、用途或登錄品質的核查紀錄。</a:t>
            </a:r>
          </a:p>
          <a:p>
            <a:r>
              <a:t>沒有只因 IQR 超界就刪除，也沒有猜測修正值。</a:t>
            </a:r>
          </a:p>
          <a:p>
            <a:r>
              <a:t>保留／修正／排除情境都有 n、摘要及理由；無修正證據時如實標示。</a:t>
            </a:r>
          </a:p>
          <a:p>
            <a:r>
              <a:t>暫排候選值的比較標為敏感度分析，未反覆刪值。</a:t>
            </a:r>
          </a:p>
          <a:p>
            <a:r>
              <a:t>真實案件與教學假設分開，且沒有推論成所有學生租屋市場。</a:t>
            </a:r>
          </a:p>
          <a:p>
            <a:r>
              <a:t>原始資料、候選清單、決策表與完整提示語已保存。</a:t>
            </a:r>
          </a:p>
          <a:p>
            <a:r>
              <a:t>教師參考｜100 分鐘課堂流程</a:t>
            </a:r>
          </a:p>
          <a:p>
            <a:r>
              <a:t>0–10′</a:t>
            </a:r>
          </a:p>
          <a:p>
            <a:r>
              <a:t>承接第 3 週：平均數與中位數為什麼不同？</a:t>
            </a:r>
          </a:p>
          <a:p>
            <a:r>
              <a:t>10–30′</a:t>
            </a:r>
          </a:p>
          <a:p>
            <a:r>
              <a:t>直方圖、組距、箱型圖與 1.5 IQR 規則。</a:t>
            </a:r>
          </a:p>
          <a:p>
            <a:r>
              <a:t>30–50′</a:t>
            </a:r>
          </a:p>
          <a:p>
            <a:r>
              <a:t>執行任務 A，繪出 4 張圖，核對基準摘要。</a:t>
            </a:r>
          </a:p>
          <a:p>
            <a:r>
              <a:t>50–70′</a:t>
            </a:r>
          </a:p>
          <a:p>
            <a:r>
              <a:t>用探索器切換變項與縣市；核查兩筆真實候選案件。</a:t>
            </a:r>
          </a:p>
          <a:p>
            <a:r>
              <a:t>70–85′</a:t>
            </a:r>
          </a:p>
          <a:p>
            <a:r>
              <a:t>做三情境假設練習，區分有證據修正與無證據猜測。</a:t>
            </a:r>
          </a:p>
          <a:p>
            <a:r>
              <a:t>85–100′</a:t>
            </a:r>
          </a:p>
          <a:p>
            <a:r>
              <a:t>整理處理紀錄，完成報告並互評限制是否寫清楚。</a:t>
            </a:r>
          </a:p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/ Meet the data</a:t>
            </a:r>
          </a:p>
          <a:p>
            <a:r>
              <a:t>11,250 筆雙北租賃案件</a:t>
            </a:r>
          </a:p>
          <a:p>
            <a:r>
              <a:t>內政部實價登錄 114 年第 4 季下載版之課堂子集。臺北市 3,710 筆、新北市 7,540 筆；20 個欄位。</a:t>
            </a:r>
          </a:p>
          <a:p>
            <a:r>
              <a:t>一列是一件租賃登錄案件</a:t>
            </a:r>
          </a:p>
          <a:p>
            <a:r>
              <a:t>本檔租賃日期為民國 114/08/11–114/11/10（2025/08/11–2025/11/10）。「第 4 季下載版」不是說所有案件都發生於第 4 季。本週分析</a:t>
            </a:r>
          </a:p>
          <a:p>
            <a:r>
              <a:t>月租金與每坪月租金</a:t>
            </a:r>
          </a:p>
          <a:p>
            <a:r>
              <a:t>；CSV 沒有生活費，也沒有租客是否為學生的欄位。</a:t>
            </a:r>
          </a:p>
          <a:p>
            <a:r>
              <a:t>下載本週 CSV ↓</a:t>
            </a:r>
          </a:p>
          <a:p>
            <a:r>
              <a:t>本週會用到的欄位</a:t>
            </a:r>
          </a:p>
          <a:p>
            <a:r>
              <a:t>欄位</a:t>
            </a:r>
          </a:p>
          <a:p>
            <a:r>
              <a:t>單位／角色</a:t>
            </a:r>
          </a:p>
          <a:p>
            <a:r>
              <a:t>核查重點</a:t>
            </a:r>
          </a:p>
          <a:p>
            <a:r>
              <a:t>月租金元</a:t>
            </a:r>
          </a:p>
          <a:p>
            <a:r>
              <a:t>元／月</a:t>
            </a:r>
          </a:p>
          <a:p>
            <a:r>
              <a:t>11,250 筆均為正數，無缺失；總租金不能直接跨坪數比較。</a:t>
            </a:r>
          </a:p>
          <a:p>
            <a:r>
              <a:t>每坪月租金元</a:t>
            </a:r>
          </a:p>
          <a:p>
            <a:r>
              <a:t>元／坪／月</a:t>
            </a:r>
          </a:p>
          <a:p>
            <a:r>
              <a:t>月租金 ÷ 未四捨五入面積坪；本欄已取至整元。</a:t>
            </a:r>
          </a:p>
          <a:p>
            <a:r>
              <a:t>建物面積平方公尺、建物面積坪</a:t>
            </a:r>
          </a:p>
          <a:p>
            <a:r>
              <a:t>m²、坪</a:t>
            </a:r>
          </a:p>
          <a:p>
            <a:r>
              <a:t>1 坪約 3.305785 m²；CSV 的坪數取 2 位小數，回算可能有小差異。</a:t>
            </a:r>
          </a:p>
          <a:p>
            <a:r>
              <a:t>縣市、行政區</a:t>
            </a:r>
          </a:p>
          <a:p>
            <a:r>
              <a:t>地理分組</a:t>
            </a:r>
          </a:p>
          <a:p>
            <a:r>
              <a:t>比較分布時要說明採全體界線或各群組界線。</a:t>
            </a:r>
          </a:p>
          <a:p>
            <a:r>
              <a:t>主要用途、建物型態、出租型態</a:t>
            </a:r>
          </a:p>
          <a:p>
            <a:r>
              <a:t>查核背景</a:t>
            </a:r>
          </a:p>
          <a:p>
            <a:r>
              <a:t>留意住商混用、店面、整戶與分租等差異。</a:t>
            </a:r>
          </a:p>
          <a:p>
            <a:r>
              <a:t>租賃年月日、案件編號</a:t>
            </a:r>
          </a:p>
          <a:p>
            <a:r>
              <a:t>時間、識別碼</a:t>
            </a:r>
          </a:p>
          <a:p>
            <a:r>
              <a:t>日期為民國格式；案件編號用來追查，不拿來做統計。</a:t>
            </a:r>
          </a:p>
          <a:p>
            <a:r>
              <a:t>住宅子集仍需要檢查。</a:t>
            </a:r>
          </a:p>
          <a:p>
            <a:r>
              <a:t>原產製程式以「主要用途含『住』」篩選，尚含 185 筆「住商用」，建物型態有 140 筆店面與 32 筆辦公商業大樓。用途與型態是不同欄位，這些數目可能重疊；不能直接相加當作應排除筆數。</a:t>
            </a:r>
          </a:p>
          <a:p>
            <a:r>
              <a:t>來源：</a:t>
            </a:r>
          </a:p>
          <a:p>
            <a:r>
              <a:t>內政部不動產成交案件實際資訊資料供應系統 ↗</a:t>
            </a:r>
          </a:p>
          <a:p>
            <a:r>
              <a:t>。本檔已移除完整門牌。資料只描述通過篩選的登錄案件，不代表所有租屋、所有大學生，或目前的市場行情。</a:t>
            </a:r>
          </a:p>
          <a:p/>
          <a:p>
            <a:r>
              <a:t>完整教材與互動：https://knut921.github.io/datamining-course/week04.html</a:t>
            </a:r>
          </a:p>
          <a:p>
            <a:r>
              <a:t>來源：內政部實價登錄租賃資料 114 年第 4 季下載版課堂子集。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knut921.github.io/datamining-course/week04.html#lab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knut921.github.io/datamining-course/week04.html#task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knut921.github.io/datamining-course/week04.html#task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knut921.github.io/datamining-course/week04.html#task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knut921.github.io/datamining-course/week04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房租與生活費是否差很多？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0789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先看分布，再查核候選極端值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297680"/>
            <a:ext cx="10835640" cy="36576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0060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概念微講授  →  資料實作  →  AI 任務  →  人工覆核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用直方圖辨認中心、尾巴與組距的影響。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讀懂箱型圖，圈出候選極端值。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比較保留、修正與排除，留下可追查的理由。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從平均數，走向整個分布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直方圖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連續數值分成區間，縱軸顯示各區間筆數。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組距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同一批資料改組數，外觀就可能改變。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箱型圖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箱子為 Q1–Q3，中線為中位數。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偏態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長尾提供分布線索，不能只看平均與中位判定。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本週資料：11,250 筆雙北租賃案件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臺北 3,710 筆、新北 7,540 筆；共 20 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租賃日為 2025/08/11–11/10；是第 4 季下載版。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月租金與每坪租金不同；本檔沒有生活費或學生身分。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仍含混合用途，不代表純住宅或完整租屋市場。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全部保留：先建立比較基準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463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統計量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月租金／元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每坪月租／元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平均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24,430.29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1,226.03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中位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20,000.00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967.00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Q1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15,000.00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694.00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Q3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27,000.00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1,478.75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最大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402,854.00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7,052.00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候選值筆數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714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797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兩變項有效 n 都是 11,250；候選不等於誤植。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1.5 IQR：圈出要查的案件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IQR＝Q3−Q1。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下界＝Q1−1.5×IQR；上界＝Q3＋1.5×IQR。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月租金界線為 −3,000 至 45,000 元；界外 714 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鬚線到界內最遠的實際值，不一定剛好落在界線。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兩筆真實個案：先查原因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最高月租 402,854 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臺北松山、222.63 坪，住商用／辦公商業大樓。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研究範圍問題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若限定純住宅，先訂用途與型態規則。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每坪最高 7,052 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新北永和，面積 6 m²，月租 12,800 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分母問題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查出租面積與分租範圍；不能無證據把 6 改成 60。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保留、修正、排除的理由不同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保留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特殊但屬研究範圍，沒有證據顯示錯誤。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762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24912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有契約或原始紀錄等佐證，記錄舊值與新值。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排除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不符預先訂定的研究範圍，或無法修復的錯誤。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86784"/>
            <a:ext cx="5303520" cy="1773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86784"/>
            <a:ext cx="50292" cy="1773936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1513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敏感度分析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00016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暫排 IQR 候選僅作比較，不當作最終清理決定。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假設已證實誤植：三情境比較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65960"/>
          <a:ext cx="1097280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8463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情境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n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平均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中位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PingFang TC"/>
                        </a:defRPr>
                      </a:pPr>
                      <a:r>
                        <a:t>標準差</a:t>
                      </a:r>
                    </a:p>
                  </a:txBody>
                  <a:tcPr marL="109728" marT="91440">
                    <a:solidFill>
                      <a:srgbClr val="3B4A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保留 200,000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36,200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19,000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57,784.66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修正為 20,000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18,200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19,000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5,202.56</a:t>
                      </a:r>
                    </a:p>
                  </a:txBody>
                  <a:tcPr marL="109728" marT="91440">
                    <a:solidFill>
                      <a:srgbClr val="E9EC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排除最後一筆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9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18,000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18,000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83F"/>
                          </a:solidFill>
                          <a:latin typeface="PingFang TC"/>
                        </a:defRPr>
                      </a:pPr>
                      <a:r>
                        <a:t>5,477.23</a:t>
                      </a:r>
                    </a:p>
                  </a:txBody>
                  <a:tcPr marL="109728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16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教學假設：10,000–26,000 每 2,000 一筆，再加 200,000；非真實登錄案件。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課堂操作｜直方圖與箱型圖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切換縣市、變項及分組數，觀察圖形差異。</a:t>
            </a:r>
          </a:p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暫排候選值時，保留原始界線作比較。</a:t>
            </a:r>
          </a:p>
          <a:p>
            <a:pPr>
              <a:spcAft>
                <a:spcPts val="1000"/>
              </a:spcAft>
              <a:defRPr sz="25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記錄筆數與摘要如何變化，再回查個案。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開啟租金分布探索器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本週交件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月租金與每坪租金各一張直方圖及箱型圖。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至少兩筆候選案件的疑點、證據與處理卡。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保留／可佐證修正／依規則排除的比較。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80–120 字報告；無修正證據時如實寫明。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實際資料圖｜月租金的分布與候選極端值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12</a:t>
            </a:r>
          </a:p>
        </p:txBody>
      </p:sp>
      <p:pic>
        <p:nvPicPr>
          <p:cNvPr id="7" name="Picture 6" descr="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4519"/>
            <a:ext cx="1097280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原課堂 CSV 完整有效資料；未抽樣、未刪除極端值。來源：內政部實價登錄 114 年第 4 季下載版。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A｜執行與覆核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A · 繪圖與基準摘要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B｜執行與覆核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B · 個案核查，不猜測修正值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AI 任務 C｜執行與覆核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C · 比較處理情境與寫報告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完整提示語已放在本頁「備忘稿」，可直接複製。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執行後核對筆數、單位、分母與缺失處理。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保存 AI 原始產出與人工修正紀錄。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開啟網頁任務單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交件前，自己再確認一次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12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9112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數字能回到原始資料，已人工覆核至少一項。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81528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36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63240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圖表標示變項、單位、有效 n、年份與資料來源。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05656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87368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把資料事實、可能解釋與不能推論的內容分開。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129784"/>
            <a:ext cx="475488" cy="457200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84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5111496"/>
            <a:ext cx="10104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保留完整提示語、原始資料及分析與修正紀錄。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4A8C"/>
                </a:solidFill>
                <a:latin typeface="PingFang TC"/>
              </a:defRPr>
            </a:pPr>
            <a:r>
              <a:rPr>
                <a:ea typeface="PingFang TC"/>
              </a:rPr>
              <a:t>DATA MINING  /  WEEK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資料來源與延伸操作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臺北市立大學 公共事務學系｜郭毓倫 · 資料探勘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96078"/>
                </a:solidFill>
                <a:latin typeface="PingFang TC"/>
              </a:defRPr>
            </a:pPr>
            <a:r>
              <a:rPr>
                <a:ea typeface="PingFang TC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內政部實價登錄租賃資料：114 年第 4 季下載版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雙北課堂子集；仍含混合用途，並非今日完整市場。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83F"/>
                </a:solidFill>
                <a:latin typeface="PingFang TC"/>
              </a:defRPr>
            </a:pPr>
            <a:r>
              <a:rPr>
                <a:ea typeface="PingFang TC"/>
              </a:rPr>
              <a:t>請回到 CSV 與資料說明，核對篩選及計算規則。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40080" y="5440680"/>
            <a:ext cx="10881360" cy="566928"/>
          </a:xfrm>
          <a:prstGeom prst="rect">
            <a:avLst/>
          </a:prstGeom>
          <a:solidFill>
            <a:srgbClr val="3B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r:id="rId3"/>
          </p:cNvPr>
          <p:cNvSpPr txBox="1"/>
          <p:nvPr/>
        </p:nvSpPr>
        <p:spPr>
          <a:xfrm>
            <a:off x="841248" y="55595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PingFang TC"/>
              </a:defRPr>
            </a:pPr>
            <a:r>
              <a:rPr>
                <a:ea typeface="PingFang TC"/>
              </a:rPr>
              <a:t>開啟完整教材、下載 CSV 與操作互動實驗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4｜房租與生活費是否差很多？</dc:title>
  <dc:subject>資料探勘課程教材</dc:subject>
  <dc:creator>郭毓倫｜臺北市立大學公共事務學系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