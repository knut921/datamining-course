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71" r:id="rId23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請讀取「臺灣青年群體滿意度.csv」。確認 212 筆、年齡範圍、性別人數、權數缺失或非正數，以及整體生活／政府施政滿意度的所有原始回答與頻數。將 Very／Pretty／Fairly satisfied 合為滿意，對應 dissatisfied 合為不滿意；其餘列為無效。每題分開排除，列出原始 n、有效 n、無效 n。不要虛構困擾、資源使用、在學狀況欄位。</a:t>
            </a:r>
          </a:p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以性別及逐歲年齡分組，對兩項滿意度分別列出未加權交叉人數表、加權列百分比、加權欄百分比。明列每格權數和及分母，驗證列或欄合計 100%（容許四捨五入誤差）。權數只用於百分比，n 報未加權人數。標出有效 n&lt;30 的群組，製作群組內滿意率長條圖，圖上註明分母、年份與來源。不要將欄百分比稱作各群組滿意率。</a:t>
            </a:r>
          </a:p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寫一項支持的發現，列出兩群的有效 n、加權滿意率與百分點差。另列一項不能推論的內容，討論年份、年齡子集、小樣本與無效回答。不得把差異說成性別或年齡造成，不宣稱統計顯著。附完整提示語、計算表與人工覆核的一格。</a:t>
            </a:r>
          </a:p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/ Week lesson</a:t>
            </a:r>
          </a:p>
          <a:p>
            <a:r>
              <a:t>本週交件：群體比較圖卡</a:t>
            </a:r>
          </a:p>
          <a:p>
            <a:r>
              <a:t>群體比較圖卡</a:t>
            </a:r>
          </a:p>
          <a:p>
            <a:r>
              <a:t>交一頁重點報告，計算表、圖檔及完整提示語另附。每個結論都要能回到資料與分母。</a:t>
            </a:r>
          </a:p>
          <a:p>
            <a:r>
              <a:t>下載成果模板（Markdown）↓</a:t>
            </a:r>
          </a:p>
          <a:p>
            <a:r>
              <a:t>寫出研究問題、群組與滿意度合併規則。</a:t>
            </a:r>
          </a:p>
          <a:p>
            <a:r>
              <a:t>列出原始 n、有效 n、無效 n，保留未加權交叉表。</a:t>
            </a:r>
          </a:p>
          <a:p>
            <a:r>
              <a:t>附加權列／欄百分比與明確分母，人工覆算一格。</a:t>
            </a:r>
          </a:p>
          <a:p>
            <a:r>
              <a:t>圖上標示題目、年份、來源及小樣本提醒。</a:t>
            </a:r>
          </a:p>
          <a:p>
            <a:r>
              <a:t>提出一項支持的發現，列兩群百分點差。</a:t>
            </a:r>
          </a:p>
          <a:p>
            <a:r>
              <a:t>列一項不能推論的內容，不宣稱因果或顯著性。</a:t>
            </a:r>
          </a:p>
          <a:p>
            <a:r>
              <a:t>教師參考｜100 分鐘課堂流程</a:t>
            </a:r>
          </a:p>
          <a:p>
            <a:r>
              <a:t>0–10 分：從上一週提問；10–30 分：概念與實算；30–50 分：操作互動探索器；50–75 分：執行 AI 任務、核對數值；75–90 分：寫一頁成果；90–100 分：互評推論限制。</a:t>
            </a:r>
          </a:p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/ Week lesson</a:t>
            </a:r>
          </a:p>
          <a:p>
            <a:r>
              <a:t>2015 青年滿意度：212 位受訪者</a:t>
            </a:r>
          </a:p>
          <a:p>
            <a:r>
              <a:t>來源為中央研究院 2015 臺灣社會變遷基本調查，第七期第一次；由原始 2,034 筆篩選 18–24 歲，本 CSV 實際觀察年齡為 19–24 歲。性別為原始資料標籤，不自行補造類別。</a:t>
            </a:r>
          </a:p>
          <a:p>
            <a:r>
              <a:t>檔案含性別、年齡、地區代碼、教育程度、四項滿意度及抽樣權數。沒有「生活困擾」、「生涯資源使用」或明確在學狀況欄位，本週改以實際滿意度做交叉比較；地區代碼未解碼前不推定地名。</a:t>
            </a:r>
          </a:p>
          <a:p>
            <a:r>
              <a:t>Not applicable、No comment、Don't know 不列入有效滿意度分母；各題分開排除，不整列刪除所有題目。</a:t>
            </a:r>
          </a:p>
          <a:p>
            <a:r>
              <a:t>下載原始課堂 CSV ↓</a:t>
            </a:r>
          </a:p>
          <a:p>
            <a:r>
              <a:t>中央研究院資料來源</a:t>
            </a:r>
          </a:p>
          <a:p>
            <a:r>
              <a:t>｜僅限學術用途，禁止商用。這是 2015 年調查子集，不代表今日所有大學生。</a:t>
            </a:r>
          </a:p>
          <a:p/>
          <a:p>
            <a:r>
              <a:t>完整教材與互動：https://knut921.github.io/datamining-course/week05.html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完整教材與互動：https://knut921.github.io/datamining-course/week05.html</a:t>
            </a:r>
          </a:p>
          <a:p>
            <a:r>
              <a:t>原始 CSV：https://knut921.github.io/datamining-course/assets/data/臺灣青年群體滿意度.csv</a:t>
            </a:r>
          </a:p>
          <a:p>
            <a:r>
              <a:t>本頁只展示原檔前五筆，不代表整份資料的分布；未排序、未翻譯標籤、未四捨五入或改寫数值。</a:t>
            </a:r>
          </a:p>
          <a:p>
            <a:r>
              <a:t>全部欄位及前五筆原始紀錄：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"樣本編號": "106117",</a:t>
            </a:r>
          </a:p>
          <a:p>
            <a:r>
              <a:t>    "性別": "Female",</a:t>
            </a:r>
          </a:p>
          <a:p>
            <a:r>
              <a:t>    "年齡": "23",</a:t>
            </a:r>
          </a:p>
          <a:p>
            <a:r>
              <a:t>    "地區代碼": "1",</a:t>
            </a:r>
          </a:p>
          <a:p>
            <a:r>
              <a:t>    "教育程度": "College (continue with 6a2)",</a:t>
            </a:r>
          </a:p>
          <a:p>
            <a:r>
              <a:t>    "每日使用網路分鐘": "300",</a:t>
            </a:r>
          </a:p>
          <a:p>
            <a:r>
              <a:t>    "臺灣經濟滿意度": "Fairly dissatisfied",</a:t>
            </a:r>
          </a:p>
          <a:p>
            <a:r>
              <a:t>    "政府施政滿意度": "Very dissatisfied",</a:t>
            </a:r>
          </a:p>
          <a:p>
            <a:r>
              <a:t>    "民主運作滿意度": "Fairly satisfied",</a:t>
            </a:r>
          </a:p>
          <a:p>
            <a:r>
              <a:t>    "整體生活滿意度": "Fairly satisfied",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"106208",</a:t>
            </a:r>
          </a:p>
          <a:p>
            <a:r>
              <a:t>    "性別": "Female",</a:t>
            </a:r>
          </a:p>
          <a:p>
            <a:r>
              <a:t>    "年齡": "21",</a:t>
            </a:r>
          </a:p>
          <a:p>
            <a:r>
              <a:t>    "地區代碼": "1",</a:t>
            </a:r>
          </a:p>
          <a:p>
            <a:r>
              <a:t>    "教育程度": "College (continue with 6a2)",</a:t>
            </a:r>
          </a:p>
          <a:p>
            <a:r>
              <a:t>    "每日使用網路分鐘": "180",</a:t>
            </a:r>
          </a:p>
          <a:p>
            <a:r>
              <a:t>    "臺灣經濟滿意度": "Not applicable",</a:t>
            </a:r>
          </a:p>
          <a:p>
            <a:r>
              <a:t>    "政府施政滿意度": "Not applicable",</a:t>
            </a:r>
          </a:p>
          <a:p>
            <a:r>
              <a:t>    "民主運作滿意度": "Not applicable",</a:t>
            </a:r>
          </a:p>
          <a:p>
            <a:r>
              <a:t>    "整體生活滿意度": "Pretty satisfied",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"110116",</a:t>
            </a:r>
          </a:p>
          <a:p>
            <a:r>
              <a:t>    "性別": "Male",</a:t>
            </a:r>
          </a:p>
          <a:p>
            <a:r>
              <a:t>    "年齡": "19",</a:t>
            </a:r>
          </a:p>
          <a:p>
            <a:r>
              <a:t>    "地區代碼": "1",</a:t>
            </a:r>
          </a:p>
          <a:p>
            <a:r>
              <a:t>    "教育程度": "College (continue with 6a2)",</a:t>
            </a:r>
          </a:p>
          <a:p>
            <a:r>
              <a:t>    "每日使用網路分鐘": "420",</a:t>
            </a:r>
          </a:p>
          <a:p>
            <a:r>
              <a:t>    "臺灣經濟滿意度": "Not applicable",</a:t>
            </a:r>
          </a:p>
          <a:p>
            <a:r>
              <a:t>    "政府施政滿意度": "Not applicable",</a:t>
            </a:r>
          </a:p>
          <a:p>
            <a:r>
              <a:t>    "民主運作滿意度": "Not applicable",</a:t>
            </a:r>
          </a:p>
          <a:p>
            <a:r>
              <a:t>    "整體生活滿意度": "Fairly satisfied",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"110119",</a:t>
            </a:r>
          </a:p>
          <a:p>
            <a:r>
              <a:t>    "性別": "Male",</a:t>
            </a:r>
          </a:p>
          <a:p>
            <a:r>
              <a:t>    "年齡": "24",</a:t>
            </a:r>
          </a:p>
          <a:p>
            <a:r>
              <a:t>    "地區代碼": "1",</a:t>
            </a:r>
          </a:p>
          <a:p>
            <a:r>
              <a:t>    "教育程度": "College (continue with 6a2)",</a:t>
            </a:r>
          </a:p>
          <a:p>
            <a:r>
              <a:t>    "每日使用網路分鐘": "240",</a:t>
            </a:r>
          </a:p>
          <a:p>
            <a:r>
              <a:t>    "臺灣經濟滿意度": "Fairly satisfied",</a:t>
            </a:r>
          </a:p>
          <a:p>
            <a:r>
              <a:t>    "政府施政滿意度": "Fairly satisfied",</a:t>
            </a:r>
          </a:p>
          <a:p>
            <a:r>
              <a:t>    "民主運作滿意度": "Fairly dissatisfied",</a:t>
            </a:r>
          </a:p>
          <a:p>
            <a:r>
              <a:t>    "整體生活滿意度": "Fairly satisfied",</a:t>
            </a:r>
          </a:p>
          <a:p>
            <a:r>
              <a:t>    "抽樣權數": "0.807775334231511"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"樣本編號": "110219",</a:t>
            </a:r>
          </a:p>
          <a:p>
            <a:r>
              <a:t>    "性別": "Male",</a:t>
            </a:r>
          </a:p>
          <a:p>
            <a:r>
              <a:t>    "年齡": "19",</a:t>
            </a:r>
          </a:p>
          <a:p>
            <a:r>
              <a:t>    "地區代碼": "1",</a:t>
            </a:r>
          </a:p>
          <a:p>
            <a:r>
              <a:t>    "教育程度": "College (continue with 6a2)",</a:t>
            </a:r>
          </a:p>
          <a:p>
            <a:r>
              <a:t>    "每日使用網路分鐘": "480",</a:t>
            </a:r>
          </a:p>
          <a:p>
            <a:r>
              <a:t>    "臺灣經濟滿意度": "Fairly dissatisfied",</a:t>
            </a:r>
          </a:p>
          <a:p>
            <a:r>
              <a:t>    "政府施政滿意度": "Fairly dissatisfied",</a:t>
            </a:r>
          </a:p>
          <a:p>
            <a:r>
              <a:t>    "民主運作滿意度": "Very satisfied",</a:t>
            </a:r>
          </a:p>
          <a:p>
            <a:r>
              <a:t>    "整體生活滿意度": "Fairly satisfied",</a:t>
            </a:r>
          </a:p>
          <a:p>
            <a:r>
              <a:t>    "抽樣權數": "0.807775334231511"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knut921.github.io/datamining-course/week05.html#la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knut921.github.io/datamining-course/week05.html#task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knut921.github.io/datamining-course/week05.html#task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knut921.github.io/datamining-course/week05.html#task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knut921.github.io/datamining-course/week05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nut921.github.io/datamining-course/assets/data/&#33274;&#28771;&#38738;&#24180;&#32676;&#39636;&#28415;&#24847;&#24230;.csv" TargetMode="Externa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4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不同群體的滿意度有差嗎？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同一張交叉表，分母不同、問題就不同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297680"/>
            <a:ext cx="10835640" cy="36576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概念微講授  →  資料實作  →  AI 任務  →  人工覆核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用交叉表比較不同群體的滿意度。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先報未加權 n，再呈現加權百分比。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辨認列／欄分母與無效回答，避免過度推論。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同一張表，兩種不同問題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列百分比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各群組內，有多少比例滿意？每列合計 100%。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欄百分比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滿意者由哪些群組組成？每欄合計 100%。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加權百分比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符合條件的權數和，除以相應分母權數和。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未加權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實際有幾位受訪者；權數加總不是人數。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本週資料與滿意度操作定義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2015 青年調查子集：212 筆，男性 107、女性 105。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Very／Pretty／Fairly satisfied 合為滿意；不滿意同理。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Not applicable、No comment、Don’t know 按題排除。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CSV 沒有困擾或資源使用欄位，依實際滿意度分析。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分組基準：先看有效樣本數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8463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題目／群組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原始 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有效 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滿意 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加權滿意率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生活／女性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105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105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91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86.90%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生活／男性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96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89.67%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施政／女性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105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55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15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27.76%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施政／男性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54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32.02%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百分比為加權列百分比；其餘 n 均未加權。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群組內生活滿意率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女性（n=105）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2103120"/>
            <a:ext cx="5815380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8660" y="2103120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86.9%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88336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男性（n=107）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688336"/>
            <a:ext cx="6000749" cy="41148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84030" y="2688336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B5622A"/>
                </a:solidFill>
                <a:latin typeface="PingFang TC"/>
              </a:defRPr>
            </a:pPr>
            <a:r>
              <a:rPr>
                <a:ea typeface="PingFang TC"/>
              </a:rPr>
              <a:t>89.67%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加權列百分比；2015 青年子集，描述性差異不代表因果或顯著差異。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為什麼分母比差距更重要？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生活滿意有效 212 人；施政滿意有效 109 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不能把施政的 103 筆無效回答當成不滿意。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有效 n＜30 標記小樣本，僅為教學提醒。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沒有抽樣設計資訊，不在本頁推算顯著性。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百分點差，不是百分比成長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生活滿意率：男性 89.67%、女性 86.90%。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兩者相減約 2.78 個百分點（以未四捨五入值計算）。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這是本份資料的描述，不代表性別造成滿意度差。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還要考慮年份、樣本範圍與無效回答。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課堂操作｜切換分母，看問題如何改變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切換性別／年齡、生活／施政滿意度。</a:t>
            </a:r>
          </a:p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先比較列百分比，再改成欄百分比。</a:t>
            </a:r>
          </a:p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試著說出：現在這個百分比回答什麼問題？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開啟交叉表探索器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本週交件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一張群體比較圖卡，標明題目與分母。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附未加權交叉人數表、加權列／欄百分比。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人工覆算一格，標示無效回答與小樣本。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一項支持的發現，以及一項不可推論的內容。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A｜執行與覆核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A · 資料健檢與操作定義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B｜執行與覆核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B · 交叉表、權數與分母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C｜執行與覆核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C · 寫一張不誇大差異的圖卡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交件前，自己再確認一次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數字能回到原始資料，已人工覆核至少一項。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圖表標示變項、單位、有效 n、年份與資料來源。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把資料事實、可能解釋與不能推論的內容分開。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保留完整提示語、原始資料及分析與修正紀錄。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資料來源與延伸操作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中央研究院 2015 臺灣社會變遷基本調查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18–24 歲篩選子集；本檔實際觀察為 19–24 歲。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僅限學術用途、禁止商業使用；成果請註明來源。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開啟完整教材、下載 CSV 與操作互動實驗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t>DATA MINING  /  WEEK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20283F"/>
                </a:solidFill>
                <a:latin typeface="PingFang TC"/>
              </a:defRPr>
            </a:pPr>
            <a:r>
              <a:t>範例檔原始資料｜先看資料長什麼樣子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733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3B4A8C"/>
                </a:solidFill>
                <a:latin typeface="PingFang TC"/>
              </a:defRPr>
            </a:pPr>
            <a:r>
              <a:t>臺灣青年群體滿意度.csv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756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596078"/>
                </a:solidFill>
                <a:latin typeface="PingFang TC"/>
              </a:defRPr>
            </a:pPr>
            <a:r>
              <a:t>原檔 212 筆、11 欄｜下表依原順序顯示前 5 筆、選列 6 欄；欄名與儲存格保留原值。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587752"/>
          <a:ext cx="10972798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914400"/>
                <a:gridCol w="594360"/>
                <a:gridCol w="2788919"/>
                <a:gridCol w="2788919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樣本編號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性別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年齡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整體生活滿意度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政府施政滿意度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抽樣權數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106117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Female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23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Fairly satisfied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Very dissatisfied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106208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Female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Pretty satisfied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Not applicable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110116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Male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Fairly satisfied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Not applicable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110119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Male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Fairly satisfied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Fairly satisfied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110219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Male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Fairly satisfied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Fairly dissatisfied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0.807775334231511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5321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3B4A8C"/>
                </a:solidFill>
                <a:latin typeface="PingFang TC"/>
              </a:defRPr>
            </a:pPr>
            <a:r>
              <a:t>一起找：滿意度尚未合併分類，Not applicable 要怎麼處理？</a:t>
            </a:r>
          </a:p>
        </p:txBody>
      </p:sp>
      <p:sp>
        <p:nvSpPr>
          <p:cNvPr id="9" name="TextBox 8">
            <a:hlinkClick r:id="rId2"/>
          </p:cNvPr>
          <p:cNvSpPr txBox="1"/>
          <p:nvPr/>
        </p:nvSpPr>
        <p:spPr>
          <a:xfrm>
            <a:off x="594360" y="600760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B4A8C"/>
                </a:solidFill>
                <a:latin typeface="PingFang TC"/>
              </a:defRPr>
            </a:pPr>
            <a:r>
              <a:t>開啟完整原始 CSV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t>臺北市立大學 公共事務學系｜郭毓倫 · 資料探勘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5｜不同群體的滿意度有差嗎？</dc:title>
  <dc:subject>資料探勘課程教材</dc:subject>
  <dc:creator>郭毓倫｜臺北市立大學公共事務學系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