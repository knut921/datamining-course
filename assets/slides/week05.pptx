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/>
          <a:p>
            <a:r>
              <a:t>完整教材與互動：https://knut921.github.io/datamining-course/week05.html</a:t>
            </a:r>
          </a:p>
          <a:p>
            <a:r>
              <a:t>來源：中央研究院社會學研究所，2015 臺灣社會變遷基本調查。僅限學術用途，禁止商用。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/>
          <a:p>
            <a:r>
              <a:t>完整教材與互動：https://knut921.github.io/datamining-course/week05.html</a:t>
            </a:r>
          </a:p>
          <a:p>
            <a:r>
              <a:t>來源：中央研究院社會學研究所，2015 臺灣社會變遷基本調查。僅限學術用途，禁止商用。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/>
          <a:p>
            <a:r>
              <a:t>完整教材與互動：https://knut921.github.io/datamining-course/week05.html</a:t>
            </a:r>
          </a:p>
          <a:p>
            <a:r>
              <a:t>來源：中央研究院社會學研究所，2015 臺灣社會變遷基本調查。僅限學術用途，禁止商用。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/>
          <a:p>
            <a:r>
              <a:t>完整教材與互動：https://knut921.github.io/datamining-course/week05.html</a:t>
            </a:r>
          </a:p>
          <a:p>
            <a:r>
              <a:t>來源：中央研究院社會學研究所，2015 臺灣社會變遷基本調查。僅限學術用途，禁止商用。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/>
          <a:p>
            <a:r>
              <a:t>完整教材與互動：https://knut921.github.io/datamining-course/week05.html</a:t>
            </a:r>
          </a:p>
          <a:p>
            <a:r>
              <a:t>來源：中央研究院社會學研究所，2015 臺灣社會變遷基本調查。僅限學術用途，禁止商用。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/>
          <a:p>
            <a:r>
              <a:t>完整教材與互動：https://knut921.github.io/datamining-course/week05.html</a:t>
            </a:r>
          </a:p>
          <a:p>
            <a:r>
              <a:t>來源：中央研究院社會學研究所，2015 臺灣社會變遷基本調查。僅限學術用途，禁止商用。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/>
          <a:p>
            <a:r>
              <a:t>完整教材與互動：https://knut921.github.io/datamining-course/week05.html</a:t>
            </a:r>
          </a:p>
          <a:p>
            <a:r>
              <a:t>來源：中央研究院社會學研究所，2015 臺灣社會變遷基本調查。僅限學術用途，禁止商用。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/>
          <a:p>
            <a:r>
              <a:t>完整教材與互動：https://knut921.github.io/datamining-course/week05.html</a:t>
            </a:r>
          </a:p>
          <a:p>
            <a:r>
              <a:t>來源：中央研究院社會學研究所，2015 臺灣社會變遷基本調查。僅限學術用途，禁止商用。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/>
          <a:p>
            <a:r>
              <a:t>完整教材與互動：https://knut921.github.io/datamining-course/week05.html</a:t>
            </a:r>
          </a:p>
          <a:p>
            <a:r>
              <a:t>來源：中央研究院社會學研究所，2015 臺灣社會變遷基本調查。僅限學術用途，禁止商用。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/>
          <a:p>
            <a:r>
              <a:t>完整教材與互動：https://knut921.github.io/datamining-course/week05.html</a:t>
            </a:r>
          </a:p>
          <a:p>
            <a:r>
              <a:t>來源：中央研究院社會學研究所，2015 臺灣社會變遷基本調查。僅限學術用途，禁止商用。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請讀取「臺灣青年群體滿意度.csv」。確認 212 筆、年齡範圍、性別人數、權數缺失或非正數，以及整體生活／政府施政滿意度的所有原始回答與頻數。將 Very／Pretty／Fairly satisfied 合為滿意，對應 dissatisfied 合為不滿意；其餘列為無效。每題分開排除，列出原始 n、有效 n、無效 n。不要虛構困擾、資源使用、在學狀況欄位。</a:t>
            </a:r>
          </a:p>
          <a:p/>
          <a:p>
            <a:r>
              <a:t>完整教材與互動：https://knut921.github.io/datamining-course/week05.html</a:t>
            </a:r>
          </a:p>
          <a:p>
            <a:r>
              <a:t>來源：中央研究院社會學研究所，2015 臺灣社會變遷基本調查。僅限學術用途，禁止商用。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以性別及逐歲年齡分組，對兩項滿意度分別列出未加權交叉人數表、加權列百分比、加權欄百分比。明列每格權數和及分母，驗證列或欄合計 100%（容許四捨五入誤差）。權數只用於百分比，n 報未加權人數。標出有效 n&lt;30 的群組，製作群組內滿意率長條圖，圖上註明分母、年份與來源。不要將欄百分比稱作各群組滿意率。</a:t>
            </a:r>
          </a:p>
          <a:p/>
          <a:p>
            <a:r>
              <a:t>完整教材與互動：https://knut921.github.io/datamining-course/week05.html</a:t>
            </a:r>
          </a:p>
          <a:p>
            <a:r>
              <a:t>來源：中央研究院社會學研究所，2015 臺灣社會變遷基本調查。僅限學術用途，禁止商用。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寫一項支持的發現，列出兩群的有效 n、加權滿意率與百分點差。另列一項不能推論的內容，討論年份、年齡子集、小樣本與無效回答。不得把差異說成性別或年齡造成，不宣稱統計顯著。附完整提示語、計算表與人工覆核的一格。</a:t>
            </a:r>
          </a:p>
          <a:p/>
          <a:p>
            <a:r>
              <a:t>完整教材與互動：https://knut921.github.io/datamining-course/week05.html</a:t>
            </a:r>
          </a:p>
          <a:p>
            <a:r>
              <a:t>來源：中央研究院社會學研究所，2015 臺灣社會變遷基本調查。僅限學術用途，禁止商用。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07 / Week lesson</a:t>
            </a:r>
          </a:p>
          <a:p>
            <a:r>
              <a:t>本週交件：群體比較圖卡</a:t>
            </a:r>
          </a:p>
          <a:p>
            <a:r>
              <a:t>群體比較圖卡</a:t>
            </a:r>
          </a:p>
          <a:p>
            <a:r>
              <a:t>交一頁重點報告，計算表、圖檔及完整提示語另附。每個結論都要能回到資料與分母。</a:t>
            </a:r>
          </a:p>
          <a:p>
            <a:r>
              <a:t>下載成果模板（Markdown）↓</a:t>
            </a:r>
          </a:p>
          <a:p>
            <a:r>
              <a:t>寫出研究問題、群組與滿意度合併規則。</a:t>
            </a:r>
          </a:p>
          <a:p>
            <a:r>
              <a:t>列出原始 n、有效 n、無效 n，保留未加權交叉表。</a:t>
            </a:r>
          </a:p>
          <a:p>
            <a:r>
              <a:t>附加權列／欄百分比與明確分母，人工覆算一格。</a:t>
            </a:r>
          </a:p>
          <a:p>
            <a:r>
              <a:t>圖上標示題目、年份、來源及小樣本提醒。</a:t>
            </a:r>
          </a:p>
          <a:p>
            <a:r>
              <a:t>提出一項支持的發現，列兩群百分點差。</a:t>
            </a:r>
          </a:p>
          <a:p>
            <a:r>
              <a:t>列一項不能推論的內容，不宣稱因果或顯著性。</a:t>
            </a:r>
          </a:p>
          <a:p>
            <a:r>
              <a:t>教師參考｜100 分鐘課堂流程</a:t>
            </a:r>
          </a:p>
          <a:p>
            <a:r>
              <a:t>0–10 分：從上一週提問；10–30 分：概念與實算；30–50 分：操作互動探索器；50–75 分：執行 AI 任務、核對數值；75–90 分：寫一頁成果；90–100 分：互評推論限制。</a:t>
            </a:r>
          </a:p>
          <a:p/>
          <a:p>
            <a:r>
              <a:t>完整教材與互動：https://knut921.github.io/datamining-course/week05.html</a:t>
            </a:r>
          </a:p>
          <a:p>
            <a:r>
              <a:t>來源：中央研究院社會學研究所，2015 臺灣社會變遷基本調查。僅限學術用途，禁止商用。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03 / Week lesson</a:t>
            </a:r>
          </a:p>
          <a:p>
            <a:r>
              <a:t>2015 青年滿意度：212 位受訪者</a:t>
            </a:r>
          </a:p>
          <a:p>
            <a:r>
              <a:t>來源為中央研究院 2015 臺灣社會變遷基本調查，第七期第一次；由原始 2,034 筆篩選 18–24 歲，本 CSV 實際觀察年齡為 19–24 歲。性別為原始資料標籤，不自行補造類別。</a:t>
            </a:r>
          </a:p>
          <a:p>
            <a:r>
              <a:t>檔案含性別、年齡、地區代碼、教育程度、四項滿意度及抽樣權數。沒有「生活困擾」、「生涯資源使用」或明確在學狀況欄位，本週改以實際滿意度做交叉比較；地區代碼未解碼前不推定地名。</a:t>
            </a:r>
          </a:p>
          <a:p>
            <a:r>
              <a:t>Not applicable、No comment、Don't know 不列入有效滿意度分母；各題分開排除，不整列刪除所有題目。</a:t>
            </a:r>
          </a:p>
          <a:p>
            <a:r>
              <a:t>下載原始課堂 CSV ↓</a:t>
            </a:r>
          </a:p>
          <a:p>
            <a:r>
              <a:t>中央研究院資料來源</a:t>
            </a:r>
          </a:p>
          <a:p>
            <a:r>
              <a:t>｜僅限學術用途，禁止商用。這是 2015 年調查子集，不代表今日所有大學生。</a:t>
            </a:r>
          </a:p>
          <a:p/>
          <a:p>
            <a:r>
              <a:t>完整教材與互動：https://knut921.github.io/datamining-course/week05.html</a:t>
            </a:r>
          </a:p>
          <a:p>
            <a:r>
              <a:t>來源：中央研究院社會學研究所，2015 臺灣社會變遷基本調查。僅限學術用途，禁止商用。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knut921.github.io/datamining-course/week05.html#lab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knut921.github.io/datamining-course/week05.html#tasks" TargetMode="Externa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s://knut921.github.io/datamining-course/week05.html#tasks" TargetMode="Externa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s://knut921.github.io/datamining-course/week05.html#tasks" TargetMode="Externa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Relationship Id="rId3" Type="http://schemas.openxmlformats.org/officeDocument/2006/relationships/hyperlink" Target="https://knut921.github.io/datamining-course/week05.html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B4A8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B56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FFFFFF"/>
                </a:solidFill>
                <a:latin typeface="PingFang TC"/>
              </a:defRPr>
            </a:pPr>
            <a:r>
              <a:rPr>
                <a:ea typeface="PingFang TC"/>
              </a:rPr>
              <a:t>DATA MINING  /  WEEK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41248"/>
            <a:ext cx="11064240" cy="10789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3400" b="1">
                <a:solidFill>
                  <a:srgbClr val="FFFFFF"/>
                </a:solidFill>
                <a:latin typeface="PingFang TC"/>
              </a:defRPr>
            </a:pPr>
            <a:r>
              <a:rPr>
                <a:ea typeface="PingFang TC"/>
              </a:rPr>
              <a:t>不同群體的滿意度有差嗎？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28232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FFFFFF"/>
                </a:solidFill>
                <a:latin typeface="PingFang TC"/>
              </a:defRPr>
            </a:pPr>
            <a:r>
              <a:rPr>
                <a:ea typeface="PingFang TC"/>
              </a:rPr>
              <a:t>臺北市立大學 公共事務學系｜郭毓倫 · 資料探勘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00800"/>
            <a:ext cx="594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FFFFFF"/>
                </a:solidFill>
                <a:latin typeface="PingFang TC"/>
              </a:defRPr>
            </a:pPr>
            <a:r>
              <a:rPr>
                <a:ea typeface="PingFang TC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331720"/>
            <a:ext cx="10789920" cy="1325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700" b="0">
                <a:solidFill>
                  <a:srgbClr val="FFFFFF"/>
                </a:solidFill>
                <a:latin typeface="PingFang TC"/>
              </a:defRPr>
            </a:pPr>
            <a:r>
              <a:rPr>
                <a:ea typeface="PingFang TC"/>
              </a:rPr>
              <a:t>同一張交叉表，分母不同、問題就不同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4297680"/>
            <a:ext cx="10835640" cy="36576"/>
          </a:xfrm>
          <a:prstGeom prst="rect">
            <a:avLst/>
          </a:prstGeom>
          <a:solidFill>
            <a:srgbClr val="B56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4800600"/>
            <a:ext cx="108356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100" b="0">
                <a:solidFill>
                  <a:srgbClr val="FFFFFF"/>
                </a:solidFill>
                <a:latin typeface="PingFang TC"/>
              </a:defRPr>
            </a:pPr>
            <a:r>
              <a:rPr>
                <a:ea typeface="PingFang TC"/>
              </a:rPr>
              <a:t>概念微講授  →  資料實作  →  AI 任務  →  人工覆核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B56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3B4A8C"/>
                </a:solidFill>
                <a:latin typeface="PingFang TC"/>
              </a:defRPr>
            </a:pPr>
            <a:r>
              <a:rPr>
                <a:ea typeface="PingFang TC"/>
              </a:rPr>
              <a:t>DATA MINING  /  WEEK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41248"/>
            <a:ext cx="11064240" cy="10789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3400" b="1">
                <a:solidFill>
                  <a:srgbClr val="20283F"/>
                </a:solidFill>
                <a:latin typeface="PingFang TC"/>
              </a:defRPr>
            </a:pPr>
            <a:r>
              <a:rPr>
                <a:ea typeface="PingFang TC"/>
              </a:rPr>
              <a:t>本週學習目標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28232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596078"/>
                </a:solidFill>
                <a:latin typeface="PingFang TC"/>
              </a:defRPr>
            </a:pPr>
            <a:r>
              <a:rPr>
                <a:ea typeface="PingFang TC"/>
              </a:rPr>
              <a:t>臺北市立大學 公共事務學系｜郭毓倫 · 資料探勘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00800"/>
            <a:ext cx="594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596078"/>
                </a:solidFill>
                <a:latin typeface="PingFang TC"/>
              </a:defRPr>
            </a:pPr>
            <a:r>
              <a:rPr>
                <a:ea typeface="PingFang TC"/>
              </a:rPr>
              <a:t>02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2057400"/>
            <a:ext cx="475488" cy="457200"/>
          </a:xfrm>
          <a:prstGeom prst="rect">
            <a:avLst/>
          </a:prstGeom>
          <a:solidFill>
            <a:srgbClr val="3B4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2376" y="2112264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FFFFFF"/>
                </a:solidFill>
                <a:latin typeface="PingFang TC"/>
              </a:defRPr>
            </a:pPr>
            <a:r>
              <a:rPr>
                <a:ea typeface="PingFang TC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98448" y="2039112"/>
            <a:ext cx="10104120" cy="8961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300" b="0">
                <a:solidFill>
                  <a:srgbClr val="20283F"/>
                </a:solidFill>
                <a:latin typeface="PingFang TC"/>
              </a:defRPr>
            </a:pPr>
            <a:r>
              <a:rPr>
                <a:ea typeface="PingFang TC"/>
              </a:rPr>
              <a:t>用交叉表比較不同群體的滿意度。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3081528"/>
            <a:ext cx="475488" cy="457200"/>
          </a:xfrm>
          <a:prstGeom prst="rect">
            <a:avLst/>
          </a:prstGeom>
          <a:solidFill>
            <a:srgbClr val="3B4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2376" y="3136392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FFFFFF"/>
                </a:solidFill>
                <a:latin typeface="PingFang TC"/>
              </a:defRPr>
            </a:pPr>
            <a:r>
              <a:rPr>
                <a:ea typeface="PingFang TC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98448" y="3063240"/>
            <a:ext cx="10104120" cy="8961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300" b="0">
                <a:solidFill>
                  <a:srgbClr val="20283F"/>
                </a:solidFill>
                <a:latin typeface="PingFang TC"/>
              </a:defRPr>
            </a:pPr>
            <a:r>
              <a:rPr>
                <a:ea typeface="PingFang TC"/>
              </a:rPr>
              <a:t>先報未加權 n，再呈現加權百分比。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4105656"/>
            <a:ext cx="475488" cy="457200"/>
          </a:xfrm>
          <a:prstGeom prst="rect">
            <a:avLst/>
          </a:prstGeom>
          <a:solidFill>
            <a:srgbClr val="3B4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2376" y="416052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FFFFFF"/>
                </a:solidFill>
                <a:latin typeface="PingFang TC"/>
              </a:defRPr>
            </a:pPr>
            <a:r>
              <a:rPr>
                <a:ea typeface="PingFang TC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98448" y="4087368"/>
            <a:ext cx="10104120" cy="8961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300" b="0">
                <a:solidFill>
                  <a:srgbClr val="20283F"/>
                </a:solidFill>
                <a:latin typeface="PingFang TC"/>
              </a:defRPr>
            </a:pPr>
            <a:r>
              <a:rPr>
                <a:ea typeface="PingFang TC"/>
              </a:rPr>
              <a:t>辨認列／欄分母與無效回答，避免過度推論。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B56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3B4A8C"/>
                </a:solidFill>
                <a:latin typeface="PingFang TC"/>
              </a:defRPr>
            </a:pPr>
            <a:r>
              <a:rPr>
                <a:ea typeface="PingFang TC"/>
              </a:rPr>
              <a:t>DATA MINING  /  WEEK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41248"/>
            <a:ext cx="11064240" cy="10789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3400" b="1">
                <a:solidFill>
                  <a:srgbClr val="20283F"/>
                </a:solidFill>
                <a:latin typeface="PingFang TC"/>
              </a:defRPr>
            </a:pPr>
            <a:r>
              <a:rPr>
                <a:ea typeface="PingFang TC"/>
              </a:rPr>
              <a:t>同一張表，兩種不同問題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28232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596078"/>
                </a:solidFill>
                <a:latin typeface="PingFang TC"/>
              </a:defRPr>
            </a:pPr>
            <a:r>
              <a:rPr>
                <a:ea typeface="PingFang TC"/>
              </a:rPr>
              <a:t>臺北市立大學 公共事務學系｜郭毓倫 · 資料探勘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00800"/>
            <a:ext cx="594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596078"/>
                </a:solidFill>
                <a:latin typeface="PingFang TC"/>
              </a:defRPr>
            </a:pPr>
            <a:r>
              <a:rPr>
                <a:ea typeface="PingFang TC"/>
              </a:rPr>
              <a:t>03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2011680"/>
            <a:ext cx="5303520" cy="17739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2011680"/>
            <a:ext cx="50292" cy="1773936"/>
          </a:xfrm>
          <a:prstGeom prst="rect">
            <a:avLst/>
          </a:prstGeom>
          <a:solidFill>
            <a:srgbClr val="3B4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2176272"/>
            <a:ext cx="48463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200" b="1">
                <a:solidFill>
                  <a:srgbClr val="3B4A8C"/>
                </a:solidFill>
                <a:latin typeface="PingFang TC"/>
              </a:defRPr>
            </a:pPr>
            <a:r>
              <a:rPr>
                <a:ea typeface="PingFang TC"/>
              </a:rPr>
              <a:t>列百分比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2724912"/>
            <a:ext cx="4846320" cy="9326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20283F"/>
                </a:solidFill>
                <a:latin typeface="PingFang TC"/>
              </a:defRPr>
            </a:pPr>
            <a:r>
              <a:rPr>
                <a:ea typeface="PingFang TC"/>
              </a:rPr>
              <a:t>各群組內，有多少比例滿意？每列合計 100%。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72200" y="2011680"/>
            <a:ext cx="5303520" cy="17739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72200" y="2011680"/>
            <a:ext cx="50292" cy="1773936"/>
          </a:xfrm>
          <a:prstGeom prst="rect">
            <a:avLst/>
          </a:prstGeom>
          <a:solidFill>
            <a:srgbClr val="3B4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82512" y="2176272"/>
            <a:ext cx="48463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200" b="1">
                <a:solidFill>
                  <a:srgbClr val="3B4A8C"/>
                </a:solidFill>
                <a:latin typeface="PingFang TC"/>
              </a:defRPr>
            </a:pPr>
            <a:r>
              <a:rPr>
                <a:ea typeface="PingFang TC"/>
              </a:rPr>
              <a:t>欄百分比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82512" y="2724912"/>
            <a:ext cx="4846320" cy="9326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20283F"/>
                </a:solidFill>
                <a:latin typeface="PingFang TC"/>
              </a:defRPr>
            </a:pPr>
            <a:r>
              <a:rPr>
                <a:ea typeface="PingFang TC"/>
              </a:rPr>
              <a:t>滿意者由哪些群組組成？每欄合計 100%。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3986784"/>
            <a:ext cx="5303520" cy="17739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94360" y="3986784"/>
            <a:ext cx="50292" cy="1773936"/>
          </a:xfrm>
          <a:prstGeom prst="rect">
            <a:avLst/>
          </a:prstGeom>
          <a:solidFill>
            <a:srgbClr val="3B4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4151376"/>
            <a:ext cx="48463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200" b="1">
                <a:solidFill>
                  <a:srgbClr val="3B4A8C"/>
                </a:solidFill>
                <a:latin typeface="PingFang TC"/>
              </a:defRPr>
            </a:pPr>
            <a:r>
              <a:rPr>
                <a:ea typeface="PingFang TC"/>
              </a:rPr>
              <a:t>加權百分比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" y="4700016"/>
            <a:ext cx="4846320" cy="9326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20283F"/>
                </a:solidFill>
                <a:latin typeface="PingFang TC"/>
              </a:defRPr>
            </a:pPr>
            <a:r>
              <a:rPr>
                <a:ea typeface="PingFang TC"/>
              </a:rPr>
              <a:t>符合條件的權數和，除以相應分母權數和。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72200" y="3986784"/>
            <a:ext cx="5303520" cy="17739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72200" y="3986784"/>
            <a:ext cx="50292" cy="1773936"/>
          </a:xfrm>
          <a:prstGeom prst="rect">
            <a:avLst/>
          </a:prstGeom>
          <a:solidFill>
            <a:srgbClr val="3B4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82512" y="4151376"/>
            <a:ext cx="48463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200" b="1">
                <a:solidFill>
                  <a:srgbClr val="3B4A8C"/>
                </a:solidFill>
                <a:latin typeface="PingFang TC"/>
              </a:defRPr>
            </a:pPr>
            <a:r>
              <a:rPr>
                <a:ea typeface="PingFang TC"/>
              </a:rPr>
              <a:t>未加權 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82512" y="4700016"/>
            <a:ext cx="4846320" cy="9326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20283F"/>
                </a:solidFill>
                <a:latin typeface="PingFang TC"/>
              </a:defRPr>
            </a:pPr>
            <a:r>
              <a:rPr>
                <a:ea typeface="PingFang TC"/>
              </a:rPr>
              <a:t>實際有幾位受訪者；權數加總不是人數。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B56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3B4A8C"/>
                </a:solidFill>
                <a:latin typeface="PingFang TC"/>
              </a:defRPr>
            </a:pPr>
            <a:r>
              <a:rPr>
                <a:ea typeface="PingFang TC"/>
              </a:rPr>
              <a:t>DATA MINING  /  WEEK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41248"/>
            <a:ext cx="11064240" cy="10789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3400" b="1">
                <a:solidFill>
                  <a:srgbClr val="20283F"/>
                </a:solidFill>
                <a:latin typeface="PingFang TC"/>
              </a:defRPr>
            </a:pPr>
            <a:r>
              <a:rPr>
                <a:ea typeface="PingFang TC"/>
              </a:rPr>
              <a:t>本週資料與滿意度操作定義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28232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596078"/>
                </a:solidFill>
                <a:latin typeface="PingFang TC"/>
              </a:defRPr>
            </a:pPr>
            <a:r>
              <a:rPr>
                <a:ea typeface="PingFang TC"/>
              </a:rPr>
              <a:t>臺北市立大學 公共事務學系｜郭毓倫 · 資料探勘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00800"/>
            <a:ext cx="594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596078"/>
                </a:solidFill>
                <a:latin typeface="PingFang TC"/>
              </a:defRPr>
            </a:pPr>
            <a:r>
              <a:rPr>
                <a:ea typeface="PingFang TC"/>
              </a:rPr>
              <a:t>04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2057400"/>
            <a:ext cx="475488" cy="457200"/>
          </a:xfrm>
          <a:prstGeom prst="rect">
            <a:avLst/>
          </a:prstGeom>
          <a:solidFill>
            <a:srgbClr val="3B4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2376" y="2112264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FFFFFF"/>
                </a:solidFill>
                <a:latin typeface="PingFang TC"/>
              </a:defRPr>
            </a:pPr>
            <a:r>
              <a:rPr>
                <a:ea typeface="PingFang TC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98448" y="2039112"/>
            <a:ext cx="10104120" cy="8961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300" b="0">
                <a:solidFill>
                  <a:srgbClr val="20283F"/>
                </a:solidFill>
                <a:latin typeface="PingFang TC"/>
              </a:defRPr>
            </a:pPr>
            <a:r>
              <a:rPr>
                <a:ea typeface="PingFang TC"/>
              </a:rPr>
              <a:t>2015 青年調查子集：212 筆，男性 107、女性 105。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3081528"/>
            <a:ext cx="475488" cy="457200"/>
          </a:xfrm>
          <a:prstGeom prst="rect">
            <a:avLst/>
          </a:prstGeom>
          <a:solidFill>
            <a:srgbClr val="3B4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2376" y="3136392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FFFFFF"/>
                </a:solidFill>
                <a:latin typeface="PingFang TC"/>
              </a:defRPr>
            </a:pPr>
            <a:r>
              <a:rPr>
                <a:ea typeface="PingFang TC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98448" y="3063240"/>
            <a:ext cx="10104120" cy="8961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300" b="0">
                <a:solidFill>
                  <a:srgbClr val="20283F"/>
                </a:solidFill>
                <a:latin typeface="PingFang TC"/>
              </a:defRPr>
            </a:pPr>
            <a:r>
              <a:rPr>
                <a:ea typeface="PingFang TC"/>
              </a:rPr>
              <a:t>Very／Pretty／Fairly satisfied 合為滿意；不滿意同理。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4105656"/>
            <a:ext cx="475488" cy="457200"/>
          </a:xfrm>
          <a:prstGeom prst="rect">
            <a:avLst/>
          </a:prstGeom>
          <a:solidFill>
            <a:srgbClr val="3B4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2376" y="416052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FFFFFF"/>
                </a:solidFill>
                <a:latin typeface="PingFang TC"/>
              </a:defRPr>
            </a:pPr>
            <a:r>
              <a:rPr>
                <a:ea typeface="PingFang TC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98448" y="4087368"/>
            <a:ext cx="10104120" cy="8961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300" b="0">
                <a:solidFill>
                  <a:srgbClr val="20283F"/>
                </a:solidFill>
                <a:latin typeface="PingFang TC"/>
              </a:defRPr>
            </a:pPr>
            <a:r>
              <a:rPr>
                <a:ea typeface="PingFang TC"/>
              </a:rPr>
              <a:t>Not applicable、No comment、Don’t know 按題排除。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" y="5129784"/>
            <a:ext cx="475488" cy="457200"/>
          </a:xfrm>
          <a:prstGeom prst="rect">
            <a:avLst/>
          </a:prstGeom>
          <a:solidFill>
            <a:srgbClr val="3B4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2376" y="5184648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FFFFFF"/>
                </a:solidFill>
                <a:latin typeface="PingFang TC"/>
              </a:defRPr>
            </a:pPr>
            <a:r>
              <a:rPr>
                <a:ea typeface="PingFang TC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98448" y="5111496"/>
            <a:ext cx="10104120" cy="8961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300" b="0">
                <a:solidFill>
                  <a:srgbClr val="20283F"/>
                </a:solidFill>
                <a:latin typeface="PingFang TC"/>
              </a:defRPr>
            </a:pPr>
            <a:r>
              <a:rPr>
                <a:ea typeface="PingFang TC"/>
              </a:rPr>
              <a:t>CSV 沒有困擾或資源使用欄位，依實際滿意度分析。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B56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3B4A8C"/>
                </a:solidFill>
                <a:latin typeface="PingFang TC"/>
              </a:defRPr>
            </a:pPr>
            <a:r>
              <a:rPr>
                <a:ea typeface="PingFang TC"/>
              </a:rPr>
              <a:t>DATA MINING  /  WEEK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41248"/>
            <a:ext cx="11064240" cy="10789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3400" b="1">
                <a:solidFill>
                  <a:srgbClr val="20283F"/>
                </a:solidFill>
                <a:latin typeface="PingFang TC"/>
              </a:defRPr>
            </a:pPr>
            <a:r>
              <a:rPr>
                <a:ea typeface="PingFang TC"/>
              </a:rPr>
              <a:t>分組基準：先看有效樣本數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28232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596078"/>
                </a:solidFill>
                <a:latin typeface="PingFang TC"/>
              </a:defRPr>
            </a:pPr>
            <a:r>
              <a:rPr>
                <a:ea typeface="PingFang TC"/>
              </a:rPr>
              <a:t>臺北市立大學 公共事務學系｜郭毓倫 · 資料探勘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00800"/>
            <a:ext cx="594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596078"/>
                </a:solidFill>
                <a:latin typeface="PingFang TC"/>
              </a:defRPr>
            </a:pPr>
            <a:r>
              <a:rPr>
                <a:ea typeface="PingFang TC"/>
              </a:rPr>
              <a:t>05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94360" y="1965960"/>
          <a:ext cx="10972800" cy="2423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194560"/>
                <a:gridCol w="2194560"/>
                <a:gridCol w="2194560"/>
                <a:gridCol w="2194560"/>
              </a:tblGrid>
              <a:tr h="484632"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FFFFFF"/>
                          </a:solidFill>
                          <a:latin typeface="PingFang TC"/>
                        </a:defRPr>
                      </a:pPr>
                      <a:r>
                        <a:t>題目／群組</a:t>
                      </a:r>
                    </a:p>
                  </a:txBody>
                  <a:tcPr marL="109728" marT="91440">
                    <a:solidFill>
                      <a:srgbClr val="3B4A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FFFFFF"/>
                          </a:solidFill>
                          <a:latin typeface="PingFang TC"/>
                        </a:defRPr>
                      </a:pPr>
                      <a:r>
                        <a:t>原始 n</a:t>
                      </a:r>
                    </a:p>
                  </a:txBody>
                  <a:tcPr marL="109728" marT="91440">
                    <a:solidFill>
                      <a:srgbClr val="3B4A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FFFFFF"/>
                          </a:solidFill>
                          <a:latin typeface="PingFang TC"/>
                        </a:defRPr>
                      </a:pPr>
                      <a:r>
                        <a:t>有效 n</a:t>
                      </a:r>
                    </a:p>
                  </a:txBody>
                  <a:tcPr marL="109728" marT="91440">
                    <a:solidFill>
                      <a:srgbClr val="3B4A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FFFFFF"/>
                          </a:solidFill>
                          <a:latin typeface="PingFang TC"/>
                        </a:defRPr>
                      </a:pPr>
                      <a:r>
                        <a:t>滿意 n</a:t>
                      </a:r>
                    </a:p>
                  </a:txBody>
                  <a:tcPr marL="109728" marT="91440">
                    <a:solidFill>
                      <a:srgbClr val="3B4A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FFFFFF"/>
                          </a:solidFill>
                          <a:latin typeface="PingFang TC"/>
                        </a:defRPr>
                      </a:pPr>
                      <a:r>
                        <a:t>加權滿意率</a:t>
                      </a:r>
                    </a:p>
                  </a:txBody>
                  <a:tcPr marL="109728" marT="91440">
                    <a:solidFill>
                      <a:srgbClr val="3B4A8C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0283F"/>
                          </a:solidFill>
                          <a:latin typeface="PingFang TC"/>
                        </a:defRPr>
                      </a:pPr>
                      <a:r>
                        <a:t>生活／女性</a:t>
                      </a:r>
                    </a:p>
                  </a:txBody>
                  <a:tcPr marL="109728" marT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0283F"/>
                          </a:solidFill>
                          <a:latin typeface="PingFang TC"/>
                        </a:defRPr>
                      </a:pPr>
                      <a:r>
                        <a:t>105</a:t>
                      </a:r>
                    </a:p>
                  </a:txBody>
                  <a:tcPr marL="109728" marT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0283F"/>
                          </a:solidFill>
                          <a:latin typeface="PingFang TC"/>
                        </a:defRPr>
                      </a:pPr>
                      <a:r>
                        <a:t>105</a:t>
                      </a:r>
                    </a:p>
                  </a:txBody>
                  <a:tcPr marL="109728" marT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0283F"/>
                          </a:solidFill>
                          <a:latin typeface="PingFang TC"/>
                        </a:defRPr>
                      </a:pPr>
                      <a:r>
                        <a:t>91</a:t>
                      </a:r>
                    </a:p>
                  </a:txBody>
                  <a:tcPr marL="109728" marT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0283F"/>
                          </a:solidFill>
                          <a:latin typeface="PingFang TC"/>
                        </a:defRPr>
                      </a:pPr>
                      <a:r>
                        <a:t>86.90%</a:t>
                      </a:r>
                    </a:p>
                  </a:txBody>
                  <a:tcPr marL="109728" marT="91440"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0283F"/>
                          </a:solidFill>
                          <a:latin typeface="PingFang TC"/>
                        </a:defRPr>
                      </a:pPr>
                      <a:r>
                        <a:t>生活／男性</a:t>
                      </a:r>
                    </a:p>
                  </a:txBody>
                  <a:tcPr marL="109728" marT="91440">
                    <a:solidFill>
                      <a:srgbClr val="E9EC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0283F"/>
                          </a:solidFill>
                          <a:latin typeface="PingFang TC"/>
                        </a:defRPr>
                      </a:pPr>
                      <a:r>
                        <a:t>107</a:t>
                      </a:r>
                    </a:p>
                  </a:txBody>
                  <a:tcPr marL="109728" marT="91440">
                    <a:solidFill>
                      <a:srgbClr val="E9EC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0283F"/>
                          </a:solidFill>
                          <a:latin typeface="PingFang TC"/>
                        </a:defRPr>
                      </a:pPr>
                      <a:r>
                        <a:t>107</a:t>
                      </a:r>
                    </a:p>
                  </a:txBody>
                  <a:tcPr marL="109728" marT="91440">
                    <a:solidFill>
                      <a:srgbClr val="E9EC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0283F"/>
                          </a:solidFill>
                          <a:latin typeface="PingFang TC"/>
                        </a:defRPr>
                      </a:pPr>
                      <a:r>
                        <a:t>96</a:t>
                      </a:r>
                    </a:p>
                  </a:txBody>
                  <a:tcPr marL="109728" marT="91440">
                    <a:solidFill>
                      <a:srgbClr val="E9EC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0283F"/>
                          </a:solidFill>
                          <a:latin typeface="PingFang TC"/>
                        </a:defRPr>
                      </a:pPr>
                      <a:r>
                        <a:t>89.67%</a:t>
                      </a:r>
                    </a:p>
                  </a:txBody>
                  <a:tcPr marL="109728" marT="91440">
                    <a:solidFill>
                      <a:srgbClr val="E9ECF7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0283F"/>
                          </a:solidFill>
                          <a:latin typeface="PingFang TC"/>
                        </a:defRPr>
                      </a:pPr>
                      <a:r>
                        <a:t>施政／女性</a:t>
                      </a:r>
                    </a:p>
                  </a:txBody>
                  <a:tcPr marL="109728" marT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0283F"/>
                          </a:solidFill>
                          <a:latin typeface="PingFang TC"/>
                        </a:defRPr>
                      </a:pPr>
                      <a:r>
                        <a:t>105</a:t>
                      </a:r>
                    </a:p>
                  </a:txBody>
                  <a:tcPr marL="109728" marT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0283F"/>
                          </a:solidFill>
                          <a:latin typeface="PingFang TC"/>
                        </a:defRPr>
                      </a:pPr>
                      <a:r>
                        <a:t>55</a:t>
                      </a:r>
                    </a:p>
                  </a:txBody>
                  <a:tcPr marL="109728" marT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0283F"/>
                          </a:solidFill>
                          <a:latin typeface="PingFang TC"/>
                        </a:defRPr>
                      </a:pPr>
                      <a:r>
                        <a:t>15</a:t>
                      </a:r>
                    </a:p>
                  </a:txBody>
                  <a:tcPr marL="109728" marT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0283F"/>
                          </a:solidFill>
                          <a:latin typeface="PingFang TC"/>
                        </a:defRPr>
                      </a:pPr>
                      <a:r>
                        <a:t>27.76%</a:t>
                      </a:r>
                    </a:p>
                  </a:txBody>
                  <a:tcPr marL="109728" marT="91440"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0283F"/>
                          </a:solidFill>
                          <a:latin typeface="PingFang TC"/>
                        </a:defRPr>
                      </a:pPr>
                      <a:r>
                        <a:t>施政／男性</a:t>
                      </a:r>
                    </a:p>
                  </a:txBody>
                  <a:tcPr marL="109728" marT="91440">
                    <a:solidFill>
                      <a:srgbClr val="E9EC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0283F"/>
                          </a:solidFill>
                          <a:latin typeface="PingFang TC"/>
                        </a:defRPr>
                      </a:pPr>
                      <a:r>
                        <a:t>107</a:t>
                      </a:r>
                    </a:p>
                  </a:txBody>
                  <a:tcPr marL="109728" marT="91440">
                    <a:solidFill>
                      <a:srgbClr val="E9EC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0283F"/>
                          </a:solidFill>
                          <a:latin typeface="PingFang TC"/>
                        </a:defRPr>
                      </a:pPr>
                      <a:r>
                        <a:t>54</a:t>
                      </a:r>
                    </a:p>
                  </a:txBody>
                  <a:tcPr marL="109728" marT="91440">
                    <a:solidFill>
                      <a:srgbClr val="E9EC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0283F"/>
                          </a:solidFill>
                          <a:latin typeface="PingFang TC"/>
                        </a:defRPr>
                      </a:pPr>
                      <a:r>
                        <a:t>17</a:t>
                      </a:r>
                    </a:p>
                  </a:txBody>
                  <a:tcPr marL="109728" marT="91440">
                    <a:solidFill>
                      <a:srgbClr val="E9EC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0283F"/>
                          </a:solidFill>
                          <a:latin typeface="PingFang TC"/>
                        </a:defRPr>
                      </a:pPr>
                      <a:r>
                        <a:t>32.02%</a:t>
                      </a:r>
                    </a:p>
                  </a:txBody>
                  <a:tcPr marL="109728" marT="91440">
                    <a:solidFill>
                      <a:srgbClr val="E9ECF7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6016752"/>
            <a:ext cx="1088136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400" b="0">
                <a:solidFill>
                  <a:srgbClr val="596078"/>
                </a:solidFill>
                <a:latin typeface="PingFang TC"/>
              </a:defRPr>
            </a:pPr>
            <a:r>
              <a:rPr>
                <a:ea typeface="PingFang TC"/>
              </a:rPr>
              <a:t>百分比為加權列百分比；其餘 n 均未加權。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B56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3B4A8C"/>
                </a:solidFill>
                <a:latin typeface="PingFang TC"/>
              </a:defRPr>
            </a:pPr>
            <a:r>
              <a:rPr>
                <a:ea typeface="PingFang TC"/>
              </a:rPr>
              <a:t>DATA MINING  /  WEEK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41248"/>
            <a:ext cx="11064240" cy="10789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3400" b="1">
                <a:solidFill>
                  <a:srgbClr val="20283F"/>
                </a:solidFill>
                <a:latin typeface="PingFang TC"/>
              </a:defRPr>
            </a:pPr>
            <a:r>
              <a:rPr>
                <a:ea typeface="PingFang TC"/>
              </a:rPr>
              <a:t>群組內生活滿意率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28232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596078"/>
                </a:solidFill>
                <a:latin typeface="PingFang TC"/>
              </a:defRPr>
            </a:pPr>
            <a:r>
              <a:rPr>
                <a:ea typeface="PingFang TC"/>
              </a:rPr>
              <a:t>臺北市立大學 公共事務學系｜郭毓倫 · 資料探勘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00800"/>
            <a:ext cx="594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596078"/>
                </a:solidFill>
                <a:latin typeface="PingFang TC"/>
              </a:defRPr>
            </a:pPr>
            <a:r>
              <a:rPr>
                <a:ea typeface="PingFang TC"/>
              </a:rPr>
              <a:t>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03120"/>
            <a:ext cx="25603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20283F"/>
                </a:solidFill>
                <a:latin typeface="PingFang TC"/>
              </a:defRPr>
            </a:pPr>
            <a:r>
              <a:rPr>
                <a:ea typeface="PingFang TC"/>
              </a:rPr>
              <a:t>女性（n=105）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3246120" y="2103120"/>
            <a:ext cx="5815380" cy="411480"/>
          </a:xfrm>
          <a:prstGeom prst="rect">
            <a:avLst/>
          </a:prstGeom>
          <a:solidFill>
            <a:srgbClr val="3B4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98660" y="2103120"/>
            <a:ext cx="15544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900" b="1">
                <a:solidFill>
                  <a:srgbClr val="B5622A"/>
                </a:solidFill>
                <a:latin typeface="PingFang TC"/>
              </a:defRPr>
            </a:pPr>
            <a:r>
              <a:rPr>
                <a:ea typeface="PingFang TC"/>
              </a:rPr>
              <a:t>86.9%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688336"/>
            <a:ext cx="25603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20283F"/>
                </a:solidFill>
                <a:latin typeface="PingFang TC"/>
              </a:defRPr>
            </a:pPr>
            <a:r>
              <a:rPr>
                <a:ea typeface="PingFang TC"/>
              </a:rPr>
              <a:t>男性（n=107）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46120" y="2688336"/>
            <a:ext cx="6000749" cy="411480"/>
          </a:xfrm>
          <a:prstGeom prst="rect">
            <a:avLst/>
          </a:prstGeom>
          <a:solidFill>
            <a:srgbClr val="3B4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84030" y="2688336"/>
            <a:ext cx="15544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900" b="1">
                <a:solidFill>
                  <a:srgbClr val="B5622A"/>
                </a:solidFill>
                <a:latin typeface="PingFang TC"/>
              </a:defRPr>
            </a:pPr>
            <a:r>
              <a:rPr>
                <a:ea typeface="PingFang TC"/>
              </a:rPr>
              <a:t>89.67%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9893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400" b="0">
                <a:solidFill>
                  <a:srgbClr val="596078"/>
                </a:solidFill>
                <a:latin typeface="PingFang TC"/>
              </a:defRPr>
            </a:pPr>
            <a:r>
              <a:rPr>
                <a:ea typeface="PingFang TC"/>
              </a:rPr>
              <a:t>加權列百分比；2015 青年子集，描述性差異不代表因果或顯著差異。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B56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3B4A8C"/>
                </a:solidFill>
                <a:latin typeface="PingFang TC"/>
              </a:defRPr>
            </a:pPr>
            <a:r>
              <a:rPr>
                <a:ea typeface="PingFang TC"/>
              </a:rPr>
              <a:t>DATA MINING  /  WEEK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41248"/>
            <a:ext cx="11064240" cy="10789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3400" b="1">
                <a:solidFill>
                  <a:srgbClr val="20283F"/>
                </a:solidFill>
                <a:latin typeface="PingFang TC"/>
              </a:defRPr>
            </a:pPr>
            <a:r>
              <a:rPr>
                <a:ea typeface="PingFang TC"/>
              </a:rPr>
              <a:t>為什麼分母比差距更重要？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28232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596078"/>
                </a:solidFill>
                <a:latin typeface="PingFang TC"/>
              </a:defRPr>
            </a:pPr>
            <a:r>
              <a:rPr>
                <a:ea typeface="PingFang TC"/>
              </a:rPr>
              <a:t>臺北市立大學 公共事務學系｜郭毓倫 · 資料探勘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00800"/>
            <a:ext cx="594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596078"/>
                </a:solidFill>
                <a:latin typeface="PingFang TC"/>
              </a:defRPr>
            </a:pPr>
            <a:r>
              <a:rPr>
                <a:ea typeface="PingFang TC"/>
              </a:rPr>
              <a:t>07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2057400"/>
            <a:ext cx="475488" cy="457200"/>
          </a:xfrm>
          <a:prstGeom prst="rect">
            <a:avLst/>
          </a:prstGeom>
          <a:solidFill>
            <a:srgbClr val="3B4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2376" y="2112264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FFFFFF"/>
                </a:solidFill>
                <a:latin typeface="PingFang TC"/>
              </a:defRPr>
            </a:pPr>
            <a:r>
              <a:rPr>
                <a:ea typeface="PingFang TC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98448" y="2039112"/>
            <a:ext cx="10104120" cy="8961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300" b="0">
                <a:solidFill>
                  <a:srgbClr val="20283F"/>
                </a:solidFill>
                <a:latin typeface="PingFang TC"/>
              </a:defRPr>
            </a:pPr>
            <a:r>
              <a:rPr>
                <a:ea typeface="PingFang TC"/>
              </a:rPr>
              <a:t>生活滿意有效 212 人；施政滿意有效 109 人。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3081528"/>
            <a:ext cx="475488" cy="457200"/>
          </a:xfrm>
          <a:prstGeom prst="rect">
            <a:avLst/>
          </a:prstGeom>
          <a:solidFill>
            <a:srgbClr val="3B4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2376" y="3136392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FFFFFF"/>
                </a:solidFill>
                <a:latin typeface="PingFang TC"/>
              </a:defRPr>
            </a:pPr>
            <a:r>
              <a:rPr>
                <a:ea typeface="PingFang TC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98448" y="3063240"/>
            <a:ext cx="10104120" cy="8961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300" b="0">
                <a:solidFill>
                  <a:srgbClr val="20283F"/>
                </a:solidFill>
                <a:latin typeface="PingFang TC"/>
              </a:defRPr>
            </a:pPr>
            <a:r>
              <a:rPr>
                <a:ea typeface="PingFang TC"/>
              </a:rPr>
              <a:t>不能把施政的 103 筆無效回答當成不滿意。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4105656"/>
            <a:ext cx="475488" cy="457200"/>
          </a:xfrm>
          <a:prstGeom prst="rect">
            <a:avLst/>
          </a:prstGeom>
          <a:solidFill>
            <a:srgbClr val="3B4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2376" y="416052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FFFFFF"/>
                </a:solidFill>
                <a:latin typeface="PingFang TC"/>
              </a:defRPr>
            </a:pPr>
            <a:r>
              <a:rPr>
                <a:ea typeface="PingFang TC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98448" y="4087368"/>
            <a:ext cx="10104120" cy="8961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300" b="0">
                <a:solidFill>
                  <a:srgbClr val="20283F"/>
                </a:solidFill>
                <a:latin typeface="PingFang TC"/>
              </a:defRPr>
            </a:pPr>
            <a:r>
              <a:rPr>
                <a:ea typeface="PingFang TC"/>
              </a:rPr>
              <a:t>有效 n＜30 標記小樣本，僅為教學提醒。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" y="5129784"/>
            <a:ext cx="475488" cy="457200"/>
          </a:xfrm>
          <a:prstGeom prst="rect">
            <a:avLst/>
          </a:prstGeom>
          <a:solidFill>
            <a:srgbClr val="3B4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2376" y="5184648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FFFFFF"/>
                </a:solidFill>
                <a:latin typeface="PingFang TC"/>
              </a:defRPr>
            </a:pPr>
            <a:r>
              <a:rPr>
                <a:ea typeface="PingFang TC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98448" y="5111496"/>
            <a:ext cx="10104120" cy="8961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300" b="0">
                <a:solidFill>
                  <a:srgbClr val="20283F"/>
                </a:solidFill>
                <a:latin typeface="PingFang TC"/>
              </a:defRPr>
            </a:pPr>
            <a:r>
              <a:rPr>
                <a:ea typeface="PingFang TC"/>
              </a:rPr>
              <a:t>沒有抽樣設計資訊，不在本頁推算顯著性。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B56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3B4A8C"/>
                </a:solidFill>
                <a:latin typeface="PingFang TC"/>
              </a:defRPr>
            </a:pPr>
            <a:r>
              <a:rPr>
                <a:ea typeface="PingFang TC"/>
              </a:rPr>
              <a:t>DATA MINING  /  WEEK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41248"/>
            <a:ext cx="11064240" cy="10789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3400" b="1">
                <a:solidFill>
                  <a:srgbClr val="20283F"/>
                </a:solidFill>
                <a:latin typeface="PingFang TC"/>
              </a:defRPr>
            </a:pPr>
            <a:r>
              <a:rPr>
                <a:ea typeface="PingFang TC"/>
              </a:rPr>
              <a:t>百分點差，不是百分比成長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28232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596078"/>
                </a:solidFill>
                <a:latin typeface="PingFang TC"/>
              </a:defRPr>
            </a:pPr>
            <a:r>
              <a:rPr>
                <a:ea typeface="PingFang TC"/>
              </a:rPr>
              <a:t>臺北市立大學 公共事務學系｜郭毓倫 · 資料探勘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00800"/>
            <a:ext cx="594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596078"/>
                </a:solidFill>
                <a:latin typeface="PingFang TC"/>
              </a:defRPr>
            </a:pPr>
            <a:r>
              <a:rPr>
                <a:ea typeface="PingFang TC"/>
              </a:rPr>
              <a:t>08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2057400"/>
            <a:ext cx="475488" cy="457200"/>
          </a:xfrm>
          <a:prstGeom prst="rect">
            <a:avLst/>
          </a:prstGeom>
          <a:solidFill>
            <a:srgbClr val="3B4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2376" y="2112264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FFFFFF"/>
                </a:solidFill>
                <a:latin typeface="PingFang TC"/>
              </a:defRPr>
            </a:pPr>
            <a:r>
              <a:rPr>
                <a:ea typeface="PingFang TC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98448" y="2039112"/>
            <a:ext cx="10104120" cy="8961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300" b="0">
                <a:solidFill>
                  <a:srgbClr val="20283F"/>
                </a:solidFill>
                <a:latin typeface="PingFang TC"/>
              </a:defRPr>
            </a:pPr>
            <a:r>
              <a:rPr>
                <a:ea typeface="PingFang TC"/>
              </a:rPr>
              <a:t>生活滿意率：男性 89.67%、女性 86.90%。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3081528"/>
            <a:ext cx="475488" cy="457200"/>
          </a:xfrm>
          <a:prstGeom prst="rect">
            <a:avLst/>
          </a:prstGeom>
          <a:solidFill>
            <a:srgbClr val="3B4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2376" y="3136392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FFFFFF"/>
                </a:solidFill>
                <a:latin typeface="PingFang TC"/>
              </a:defRPr>
            </a:pPr>
            <a:r>
              <a:rPr>
                <a:ea typeface="PingFang TC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98448" y="3063240"/>
            <a:ext cx="10104120" cy="8961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300" b="0">
                <a:solidFill>
                  <a:srgbClr val="20283F"/>
                </a:solidFill>
                <a:latin typeface="PingFang TC"/>
              </a:defRPr>
            </a:pPr>
            <a:r>
              <a:rPr>
                <a:ea typeface="PingFang TC"/>
              </a:rPr>
              <a:t>兩者相減約 2.78 個百分點（以未四捨五入值計算）。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4105656"/>
            <a:ext cx="475488" cy="457200"/>
          </a:xfrm>
          <a:prstGeom prst="rect">
            <a:avLst/>
          </a:prstGeom>
          <a:solidFill>
            <a:srgbClr val="3B4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2376" y="416052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FFFFFF"/>
                </a:solidFill>
                <a:latin typeface="PingFang TC"/>
              </a:defRPr>
            </a:pPr>
            <a:r>
              <a:rPr>
                <a:ea typeface="PingFang TC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98448" y="4087368"/>
            <a:ext cx="10104120" cy="8961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300" b="0">
                <a:solidFill>
                  <a:srgbClr val="20283F"/>
                </a:solidFill>
                <a:latin typeface="PingFang TC"/>
              </a:defRPr>
            </a:pPr>
            <a:r>
              <a:rPr>
                <a:ea typeface="PingFang TC"/>
              </a:rPr>
              <a:t>這是本份資料的描述，不代表性別造成滿意度差。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" y="5129784"/>
            <a:ext cx="475488" cy="457200"/>
          </a:xfrm>
          <a:prstGeom prst="rect">
            <a:avLst/>
          </a:prstGeom>
          <a:solidFill>
            <a:srgbClr val="3B4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2376" y="5184648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FFFFFF"/>
                </a:solidFill>
                <a:latin typeface="PingFang TC"/>
              </a:defRPr>
            </a:pPr>
            <a:r>
              <a:rPr>
                <a:ea typeface="PingFang TC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98448" y="5111496"/>
            <a:ext cx="10104120" cy="8961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300" b="0">
                <a:solidFill>
                  <a:srgbClr val="20283F"/>
                </a:solidFill>
                <a:latin typeface="PingFang TC"/>
              </a:defRPr>
            </a:pPr>
            <a:r>
              <a:rPr>
                <a:ea typeface="PingFang TC"/>
              </a:rPr>
              <a:t>還要考慮年份、樣本範圍與無效回答。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B56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3B4A8C"/>
                </a:solidFill>
                <a:latin typeface="PingFang TC"/>
              </a:defRPr>
            </a:pPr>
            <a:r>
              <a:rPr>
                <a:ea typeface="PingFang TC"/>
              </a:rPr>
              <a:t>DATA MINING  /  WEEK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41248"/>
            <a:ext cx="11064240" cy="10789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3400" b="1">
                <a:solidFill>
                  <a:srgbClr val="20283F"/>
                </a:solidFill>
                <a:latin typeface="PingFang TC"/>
              </a:defRPr>
            </a:pPr>
            <a:r>
              <a:rPr>
                <a:ea typeface="PingFang TC"/>
              </a:rPr>
              <a:t>課堂操作｜切換分母，看問題如何改變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28232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596078"/>
                </a:solidFill>
                <a:latin typeface="PingFang TC"/>
              </a:defRPr>
            </a:pPr>
            <a:r>
              <a:rPr>
                <a:ea typeface="PingFang TC"/>
              </a:rPr>
              <a:t>臺北市立大學 公共事務學系｜郭毓倫 · 資料探勘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00800"/>
            <a:ext cx="594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596078"/>
                </a:solidFill>
                <a:latin typeface="PingFang TC"/>
              </a:defRPr>
            </a:pPr>
            <a:r>
              <a:rPr>
                <a:ea typeface="PingFang TC"/>
              </a:rPr>
              <a:t>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48840"/>
            <a:ext cx="1088136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500" b="0">
                <a:solidFill>
                  <a:srgbClr val="20283F"/>
                </a:solidFill>
                <a:latin typeface="PingFang TC"/>
              </a:defRPr>
            </a:pPr>
            <a:r>
              <a:rPr>
                <a:ea typeface="PingFang TC"/>
              </a:rPr>
              <a:t>切換性別／年齡、生活／施政滿意度。</a:t>
            </a:r>
          </a:p>
          <a:p>
            <a:pPr>
              <a:spcAft>
                <a:spcPts val="1000"/>
              </a:spcAft>
              <a:defRPr sz="2500" b="0">
                <a:solidFill>
                  <a:srgbClr val="20283F"/>
                </a:solidFill>
                <a:latin typeface="PingFang TC"/>
              </a:defRPr>
            </a:pPr>
            <a:r>
              <a:rPr>
                <a:ea typeface="PingFang TC"/>
              </a:rPr>
              <a:t>先比較列百分比，再改成欄百分比。</a:t>
            </a:r>
          </a:p>
          <a:p>
            <a:pPr>
              <a:spcAft>
                <a:spcPts val="1000"/>
              </a:spcAft>
              <a:defRPr sz="2500" b="0">
                <a:solidFill>
                  <a:srgbClr val="20283F"/>
                </a:solidFill>
                <a:latin typeface="PingFang TC"/>
              </a:defRPr>
            </a:pPr>
            <a:r>
              <a:rPr>
                <a:ea typeface="PingFang TC"/>
              </a:rPr>
              <a:t>試著說出：現在這個百分比回答什麼問題？</a:t>
            </a:r>
          </a:p>
        </p:txBody>
      </p:sp>
      <p:sp>
        <p:nvSpPr>
          <p:cNvPr id="8" name="Rectangle 7">
            <a:hlinkClick r:id="rId3"/>
          </p:cNvPr>
          <p:cNvSpPr/>
          <p:nvPr/>
        </p:nvSpPr>
        <p:spPr>
          <a:xfrm>
            <a:off x="640080" y="5440680"/>
            <a:ext cx="10881360" cy="566928"/>
          </a:xfrm>
          <a:prstGeom prst="rect">
            <a:avLst/>
          </a:prstGeom>
          <a:solidFill>
            <a:srgbClr val="3B4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>
            <a:hlinkClick r:id="rId3"/>
          </p:cNvPr>
          <p:cNvSpPr txBox="1"/>
          <p:nvPr/>
        </p:nvSpPr>
        <p:spPr>
          <a:xfrm>
            <a:off x="841248" y="5559552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900" b="1">
                <a:solidFill>
                  <a:srgbClr val="FFFFFF"/>
                </a:solidFill>
                <a:latin typeface="PingFang TC"/>
              </a:defRPr>
            </a:pPr>
            <a:r>
              <a:rPr>
                <a:ea typeface="PingFang TC"/>
              </a:rPr>
              <a:t>開啟交叉表探索器 →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B56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3B4A8C"/>
                </a:solidFill>
                <a:latin typeface="PingFang TC"/>
              </a:defRPr>
            </a:pPr>
            <a:r>
              <a:rPr>
                <a:ea typeface="PingFang TC"/>
              </a:rPr>
              <a:t>DATA MINING  /  WEEK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41248"/>
            <a:ext cx="11064240" cy="10789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3400" b="1">
                <a:solidFill>
                  <a:srgbClr val="20283F"/>
                </a:solidFill>
                <a:latin typeface="PingFang TC"/>
              </a:defRPr>
            </a:pPr>
            <a:r>
              <a:rPr>
                <a:ea typeface="PingFang TC"/>
              </a:rPr>
              <a:t>本週交件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28232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596078"/>
                </a:solidFill>
                <a:latin typeface="PingFang TC"/>
              </a:defRPr>
            </a:pPr>
            <a:r>
              <a:rPr>
                <a:ea typeface="PingFang TC"/>
              </a:rPr>
              <a:t>臺北市立大學 公共事務學系｜郭毓倫 · 資料探勘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00800"/>
            <a:ext cx="594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596078"/>
                </a:solidFill>
                <a:latin typeface="PingFang TC"/>
              </a:defRPr>
            </a:pPr>
            <a:r>
              <a:rPr>
                <a:ea typeface="PingFang TC"/>
              </a:rPr>
              <a:t>10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2057400"/>
            <a:ext cx="475488" cy="457200"/>
          </a:xfrm>
          <a:prstGeom prst="rect">
            <a:avLst/>
          </a:prstGeom>
          <a:solidFill>
            <a:srgbClr val="3B4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2376" y="2112264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FFFFFF"/>
                </a:solidFill>
                <a:latin typeface="PingFang TC"/>
              </a:defRPr>
            </a:pPr>
            <a:r>
              <a:rPr>
                <a:ea typeface="PingFang TC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98448" y="2039112"/>
            <a:ext cx="10104120" cy="8961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300" b="0">
                <a:solidFill>
                  <a:srgbClr val="20283F"/>
                </a:solidFill>
                <a:latin typeface="PingFang TC"/>
              </a:defRPr>
            </a:pPr>
            <a:r>
              <a:rPr>
                <a:ea typeface="PingFang TC"/>
              </a:rPr>
              <a:t>一張群體比較圖卡，標明題目與分母。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3081528"/>
            <a:ext cx="475488" cy="457200"/>
          </a:xfrm>
          <a:prstGeom prst="rect">
            <a:avLst/>
          </a:prstGeom>
          <a:solidFill>
            <a:srgbClr val="3B4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2376" y="3136392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FFFFFF"/>
                </a:solidFill>
                <a:latin typeface="PingFang TC"/>
              </a:defRPr>
            </a:pPr>
            <a:r>
              <a:rPr>
                <a:ea typeface="PingFang TC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98448" y="3063240"/>
            <a:ext cx="10104120" cy="8961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300" b="0">
                <a:solidFill>
                  <a:srgbClr val="20283F"/>
                </a:solidFill>
                <a:latin typeface="PingFang TC"/>
              </a:defRPr>
            </a:pPr>
            <a:r>
              <a:rPr>
                <a:ea typeface="PingFang TC"/>
              </a:rPr>
              <a:t>附未加權交叉人數表、加權列／欄百分比。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4105656"/>
            <a:ext cx="475488" cy="457200"/>
          </a:xfrm>
          <a:prstGeom prst="rect">
            <a:avLst/>
          </a:prstGeom>
          <a:solidFill>
            <a:srgbClr val="3B4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2376" y="416052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FFFFFF"/>
                </a:solidFill>
                <a:latin typeface="PingFang TC"/>
              </a:defRPr>
            </a:pPr>
            <a:r>
              <a:rPr>
                <a:ea typeface="PingFang TC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98448" y="4087368"/>
            <a:ext cx="10104120" cy="8961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300" b="0">
                <a:solidFill>
                  <a:srgbClr val="20283F"/>
                </a:solidFill>
                <a:latin typeface="PingFang TC"/>
              </a:defRPr>
            </a:pPr>
            <a:r>
              <a:rPr>
                <a:ea typeface="PingFang TC"/>
              </a:rPr>
              <a:t>人工覆算一格，標示無效回答與小樣本。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" y="5129784"/>
            <a:ext cx="475488" cy="457200"/>
          </a:xfrm>
          <a:prstGeom prst="rect">
            <a:avLst/>
          </a:prstGeom>
          <a:solidFill>
            <a:srgbClr val="3B4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2376" y="5184648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FFFFFF"/>
                </a:solidFill>
                <a:latin typeface="PingFang TC"/>
              </a:defRPr>
            </a:pPr>
            <a:r>
              <a:rPr>
                <a:ea typeface="PingFang TC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98448" y="5111496"/>
            <a:ext cx="10104120" cy="8961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300" b="0">
                <a:solidFill>
                  <a:srgbClr val="20283F"/>
                </a:solidFill>
                <a:latin typeface="PingFang TC"/>
              </a:defRPr>
            </a:pPr>
            <a:r>
              <a:rPr>
                <a:ea typeface="PingFang TC"/>
              </a:rPr>
              <a:t>一項支持的發現，以及一項不可推論的內容。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B56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3B4A8C"/>
                </a:solidFill>
                <a:latin typeface="PingFang TC"/>
              </a:defRPr>
            </a:pPr>
            <a:r>
              <a:rPr>
                <a:ea typeface="PingFang TC"/>
              </a:rPr>
              <a:t>DATA MINING  /  WEEK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41248"/>
            <a:ext cx="11064240" cy="10789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3400" b="1">
                <a:solidFill>
                  <a:srgbClr val="20283F"/>
                </a:solidFill>
                <a:latin typeface="PingFang TC"/>
              </a:defRPr>
            </a:pPr>
            <a:r>
              <a:rPr>
                <a:ea typeface="PingFang TC"/>
              </a:rPr>
              <a:t>AI 任務 A｜執行與覆核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28232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596078"/>
                </a:solidFill>
                <a:latin typeface="PingFang TC"/>
              </a:defRPr>
            </a:pPr>
            <a:r>
              <a:rPr>
                <a:ea typeface="PingFang TC"/>
              </a:rPr>
              <a:t>臺北市立大學 公共事務學系｜郭毓倫 · 資料探勘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00800"/>
            <a:ext cx="594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596078"/>
                </a:solidFill>
                <a:latin typeface="PingFang TC"/>
              </a:defRPr>
            </a:pPr>
            <a:r>
              <a:rPr>
                <a:ea typeface="PingFang TC"/>
              </a:rP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11680"/>
            <a:ext cx="1088136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500" b="1">
                <a:solidFill>
                  <a:srgbClr val="3B4A8C"/>
                </a:solidFill>
                <a:latin typeface="PingFang TC"/>
              </a:defRPr>
            </a:pPr>
            <a:r>
              <a:rPr>
                <a:ea typeface="PingFang TC"/>
              </a:rPr>
              <a:t>A · 資料健檢與操作定義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880360"/>
            <a:ext cx="10881360" cy="18745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300" b="0">
                <a:solidFill>
                  <a:srgbClr val="20283F"/>
                </a:solidFill>
                <a:latin typeface="PingFang TC"/>
              </a:defRPr>
            </a:pPr>
            <a:r>
              <a:rPr>
                <a:ea typeface="PingFang TC"/>
              </a:rPr>
              <a:t>完整提示語已放在本頁「備忘稿」，可直接複製。</a:t>
            </a:r>
          </a:p>
          <a:p>
            <a:pPr>
              <a:spcAft>
                <a:spcPts val="1000"/>
              </a:spcAft>
              <a:defRPr sz="2300" b="0">
                <a:solidFill>
                  <a:srgbClr val="20283F"/>
                </a:solidFill>
                <a:latin typeface="PingFang TC"/>
              </a:defRPr>
            </a:pPr>
            <a:r>
              <a:rPr>
                <a:ea typeface="PingFang TC"/>
              </a:rPr>
              <a:t>執行後核對筆數、單位、分母與缺失處理。</a:t>
            </a:r>
          </a:p>
          <a:p>
            <a:pPr>
              <a:spcAft>
                <a:spcPts val="1000"/>
              </a:spcAft>
              <a:defRPr sz="2300" b="0">
                <a:solidFill>
                  <a:srgbClr val="20283F"/>
                </a:solidFill>
                <a:latin typeface="PingFang TC"/>
              </a:defRPr>
            </a:pPr>
            <a:r>
              <a:rPr>
                <a:ea typeface="PingFang TC"/>
              </a:rPr>
              <a:t>保存 AI 原始產出與人工修正紀錄。</a:t>
            </a:r>
          </a:p>
        </p:txBody>
      </p:sp>
      <p:sp>
        <p:nvSpPr>
          <p:cNvPr id="9" name="Rectangle 8">
            <a:hlinkClick r:id="rId3"/>
          </p:cNvPr>
          <p:cNvSpPr/>
          <p:nvPr/>
        </p:nvSpPr>
        <p:spPr>
          <a:xfrm>
            <a:off x="640080" y="5440680"/>
            <a:ext cx="10881360" cy="566928"/>
          </a:xfrm>
          <a:prstGeom prst="rect">
            <a:avLst/>
          </a:prstGeom>
          <a:solidFill>
            <a:srgbClr val="3B4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>
            <a:hlinkClick r:id="rId3"/>
          </p:cNvPr>
          <p:cNvSpPr txBox="1"/>
          <p:nvPr/>
        </p:nvSpPr>
        <p:spPr>
          <a:xfrm>
            <a:off x="841248" y="5559552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900" b="1">
                <a:solidFill>
                  <a:srgbClr val="FFFFFF"/>
                </a:solidFill>
                <a:latin typeface="PingFang TC"/>
              </a:defRPr>
            </a:pPr>
            <a:r>
              <a:rPr>
                <a:ea typeface="PingFang TC"/>
              </a:rPr>
              <a:t>開啟網頁任務單 →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B56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3B4A8C"/>
                </a:solidFill>
                <a:latin typeface="PingFang TC"/>
              </a:defRPr>
            </a:pPr>
            <a:r>
              <a:rPr>
                <a:ea typeface="PingFang TC"/>
              </a:rPr>
              <a:t>DATA MINING  /  WEEK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41248"/>
            <a:ext cx="11064240" cy="10789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3400" b="1">
                <a:solidFill>
                  <a:srgbClr val="20283F"/>
                </a:solidFill>
                <a:latin typeface="PingFang TC"/>
              </a:defRPr>
            </a:pPr>
            <a:r>
              <a:rPr>
                <a:ea typeface="PingFang TC"/>
              </a:rPr>
              <a:t>AI 任務 B｜執行與覆核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28232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596078"/>
                </a:solidFill>
                <a:latin typeface="PingFang TC"/>
              </a:defRPr>
            </a:pPr>
            <a:r>
              <a:rPr>
                <a:ea typeface="PingFang TC"/>
              </a:rPr>
              <a:t>臺北市立大學 公共事務學系｜郭毓倫 · 資料探勘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00800"/>
            <a:ext cx="594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596078"/>
                </a:solidFill>
                <a:latin typeface="PingFang TC"/>
              </a:defRPr>
            </a:pPr>
            <a:r>
              <a:rPr>
                <a:ea typeface="PingFang TC"/>
              </a:rP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11680"/>
            <a:ext cx="1088136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500" b="1">
                <a:solidFill>
                  <a:srgbClr val="3B4A8C"/>
                </a:solidFill>
                <a:latin typeface="PingFang TC"/>
              </a:defRPr>
            </a:pPr>
            <a:r>
              <a:rPr>
                <a:ea typeface="PingFang TC"/>
              </a:rPr>
              <a:t>B · 交叉表、權數與分母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880360"/>
            <a:ext cx="10881360" cy="18745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300" b="0">
                <a:solidFill>
                  <a:srgbClr val="20283F"/>
                </a:solidFill>
                <a:latin typeface="PingFang TC"/>
              </a:defRPr>
            </a:pPr>
            <a:r>
              <a:rPr>
                <a:ea typeface="PingFang TC"/>
              </a:rPr>
              <a:t>完整提示語已放在本頁「備忘稿」，可直接複製。</a:t>
            </a:r>
          </a:p>
          <a:p>
            <a:pPr>
              <a:spcAft>
                <a:spcPts val="1000"/>
              </a:spcAft>
              <a:defRPr sz="2300" b="0">
                <a:solidFill>
                  <a:srgbClr val="20283F"/>
                </a:solidFill>
                <a:latin typeface="PingFang TC"/>
              </a:defRPr>
            </a:pPr>
            <a:r>
              <a:rPr>
                <a:ea typeface="PingFang TC"/>
              </a:rPr>
              <a:t>執行後核對筆數、單位、分母與缺失處理。</a:t>
            </a:r>
          </a:p>
          <a:p>
            <a:pPr>
              <a:spcAft>
                <a:spcPts val="1000"/>
              </a:spcAft>
              <a:defRPr sz="2300" b="0">
                <a:solidFill>
                  <a:srgbClr val="20283F"/>
                </a:solidFill>
                <a:latin typeface="PingFang TC"/>
              </a:defRPr>
            </a:pPr>
            <a:r>
              <a:rPr>
                <a:ea typeface="PingFang TC"/>
              </a:rPr>
              <a:t>保存 AI 原始產出與人工修正紀錄。</a:t>
            </a:r>
          </a:p>
        </p:txBody>
      </p:sp>
      <p:sp>
        <p:nvSpPr>
          <p:cNvPr id="9" name="Rectangle 8">
            <a:hlinkClick r:id="rId3"/>
          </p:cNvPr>
          <p:cNvSpPr/>
          <p:nvPr/>
        </p:nvSpPr>
        <p:spPr>
          <a:xfrm>
            <a:off x="640080" y="5440680"/>
            <a:ext cx="10881360" cy="566928"/>
          </a:xfrm>
          <a:prstGeom prst="rect">
            <a:avLst/>
          </a:prstGeom>
          <a:solidFill>
            <a:srgbClr val="3B4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>
            <a:hlinkClick r:id="rId3"/>
          </p:cNvPr>
          <p:cNvSpPr txBox="1"/>
          <p:nvPr/>
        </p:nvSpPr>
        <p:spPr>
          <a:xfrm>
            <a:off x="841248" y="5559552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900" b="1">
                <a:solidFill>
                  <a:srgbClr val="FFFFFF"/>
                </a:solidFill>
                <a:latin typeface="PingFang TC"/>
              </a:defRPr>
            </a:pPr>
            <a:r>
              <a:rPr>
                <a:ea typeface="PingFang TC"/>
              </a:rPr>
              <a:t>開啟網頁任務單 →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B56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3B4A8C"/>
                </a:solidFill>
                <a:latin typeface="PingFang TC"/>
              </a:defRPr>
            </a:pPr>
            <a:r>
              <a:rPr>
                <a:ea typeface="PingFang TC"/>
              </a:rPr>
              <a:t>DATA MINING  /  WEEK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41248"/>
            <a:ext cx="11064240" cy="10789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3400" b="1">
                <a:solidFill>
                  <a:srgbClr val="20283F"/>
                </a:solidFill>
                <a:latin typeface="PingFang TC"/>
              </a:defRPr>
            </a:pPr>
            <a:r>
              <a:rPr>
                <a:ea typeface="PingFang TC"/>
              </a:rPr>
              <a:t>AI 任務 C｜執行與覆核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28232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596078"/>
                </a:solidFill>
                <a:latin typeface="PingFang TC"/>
              </a:defRPr>
            </a:pPr>
            <a:r>
              <a:rPr>
                <a:ea typeface="PingFang TC"/>
              </a:rPr>
              <a:t>臺北市立大學 公共事務學系｜郭毓倫 · 資料探勘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00800"/>
            <a:ext cx="594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596078"/>
                </a:solidFill>
                <a:latin typeface="PingFang TC"/>
              </a:defRPr>
            </a:pPr>
            <a:r>
              <a:rPr>
                <a:ea typeface="PingFang TC"/>
              </a:rPr>
              <a:t>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11680"/>
            <a:ext cx="1088136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500" b="1">
                <a:solidFill>
                  <a:srgbClr val="3B4A8C"/>
                </a:solidFill>
                <a:latin typeface="PingFang TC"/>
              </a:defRPr>
            </a:pPr>
            <a:r>
              <a:rPr>
                <a:ea typeface="PingFang TC"/>
              </a:rPr>
              <a:t>C · 寫一張不誇大差異的圖卡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880360"/>
            <a:ext cx="10881360" cy="18745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300" b="0">
                <a:solidFill>
                  <a:srgbClr val="20283F"/>
                </a:solidFill>
                <a:latin typeface="PingFang TC"/>
              </a:defRPr>
            </a:pPr>
            <a:r>
              <a:rPr>
                <a:ea typeface="PingFang TC"/>
              </a:rPr>
              <a:t>完整提示語已放在本頁「備忘稿」，可直接複製。</a:t>
            </a:r>
          </a:p>
          <a:p>
            <a:pPr>
              <a:spcAft>
                <a:spcPts val="1000"/>
              </a:spcAft>
              <a:defRPr sz="2300" b="0">
                <a:solidFill>
                  <a:srgbClr val="20283F"/>
                </a:solidFill>
                <a:latin typeface="PingFang TC"/>
              </a:defRPr>
            </a:pPr>
            <a:r>
              <a:rPr>
                <a:ea typeface="PingFang TC"/>
              </a:rPr>
              <a:t>執行後核對筆數、單位、分母與缺失處理。</a:t>
            </a:r>
          </a:p>
          <a:p>
            <a:pPr>
              <a:spcAft>
                <a:spcPts val="1000"/>
              </a:spcAft>
              <a:defRPr sz="2300" b="0">
                <a:solidFill>
                  <a:srgbClr val="20283F"/>
                </a:solidFill>
                <a:latin typeface="PingFang TC"/>
              </a:defRPr>
            </a:pPr>
            <a:r>
              <a:rPr>
                <a:ea typeface="PingFang TC"/>
              </a:rPr>
              <a:t>保存 AI 原始產出與人工修正紀錄。</a:t>
            </a:r>
          </a:p>
        </p:txBody>
      </p:sp>
      <p:sp>
        <p:nvSpPr>
          <p:cNvPr id="9" name="Rectangle 8">
            <a:hlinkClick r:id="rId3"/>
          </p:cNvPr>
          <p:cNvSpPr/>
          <p:nvPr/>
        </p:nvSpPr>
        <p:spPr>
          <a:xfrm>
            <a:off x="640080" y="5440680"/>
            <a:ext cx="10881360" cy="566928"/>
          </a:xfrm>
          <a:prstGeom prst="rect">
            <a:avLst/>
          </a:prstGeom>
          <a:solidFill>
            <a:srgbClr val="3B4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>
            <a:hlinkClick r:id="rId3"/>
          </p:cNvPr>
          <p:cNvSpPr txBox="1"/>
          <p:nvPr/>
        </p:nvSpPr>
        <p:spPr>
          <a:xfrm>
            <a:off x="841248" y="5559552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900" b="1">
                <a:solidFill>
                  <a:srgbClr val="FFFFFF"/>
                </a:solidFill>
                <a:latin typeface="PingFang TC"/>
              </a:defRPr>
            </a:pPr>
            <a:r>
              <a:rPr>
                <a:ea typeface="PingFang TC"/>
              </a:rPr>
              <a:t>開啟網頁任務單 →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B56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3B4A8C"/>
                </a:solidFill>
                <a:latin typeface="PingFang TC"/>
              </a:defRPr>
            </a:pPr>
            <a:r>
              <a:rPr>
                <a:ea typeface="PingFang TC"/>
              </a:rPr>
              <a:t>DATA MINING  /  WEEK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41248"/>
            <a:ext cx="11064240" cy="10789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3400" b="1">
                <a:solidFill>
                  <a:srgbClr val="20283F"/>
                </a:solidFill>
                <a:latin typeface="PingFang TC"/>
              </a:defRPr>
            </a:pPr>
            <a:r>
              <a:rPr>
                <a:ea typeface="PingFang TC"/>
              </a:rPr>
              <a:t>交件前，自己再確認一次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28232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596078"/>
                </a:solidFill>
                <a:latin typeface="PingFang TC"/>
              </a:defRPr>
            </a:pPr>
            <a:r>
              <a:rPr>
                <a:ea typeface="PingFang TC"/>
              </a:rPr>
              <a:t>臺北市立大學 公共事務學系｜郭毓倫 · 資料探勘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00800"/>
            <a:ext cx="594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596078"/>
                </a:solidFill>
                <a:latin typeface="PingFang TC"/>
              </a:defRPr>
            </a:pPr>
            <a:r>
              <a:rPr>
                <a:ea typeface="PingFang TC"/>
              </a:rPr>
              <a:t>14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2057400"/>
            <a:ext cx="475488" cy="457200"/>
          </a:xfrm>
          <a:prstGeom prst="rect">
            <a:avLst/>
          </a:prstGeom>
          <a:solidFill>
            <a:srgbClr val="3B4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2376" y="2112264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FFFFFF"/>
                </a:solidFill>
                <a:latin typeface="PingFang TC"/>
              </a:defRPr>
            </a:pPr>
            <a:r>
              <a:rPr>
                <a:ea typeface="PingFang TC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98448" y="2039112"/>
            <a:ext cx="10104120" cy="8961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300" b="0">
                <a:solidFill>
                  <a:srgbClr val="20283F"/>
                </a:solidFill>
                <a:latin typeface="PingFang TC"/>
              </a:defRPr>
            </a:pPr>
            <a:r>
              <a:rPr>
                <a:ea typeface="PingFang TC"/>
              </a:rPr>
              <a:t>數字能回到原始資料，已人工覆核至少一項。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3081528"/>
            <a:ext cx="475488" cy="457200"/>
          </a:xfrm>
          <a:prstGeom prst="rect">
            <a:avLst/>
          </a:prstGeom>
          <a:solidFill>
            <a:srgbClr val="3B4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2376" y="3136392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FFFFFF"/>
                </a:solidFill>
                <a:latin typeface="PingFang TC"/>
              </a:defRPr>
            </a:pPr>
            <a:r>
              <a:rPr>
                <a:ea typeface="PingFang TC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98448" y="3063240"/>
            <a:ext cx="10104120" cy="8961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300" b="0">
                <a:solidFill>
                  <a:srgbClr val="20283F"/>
                </a:solidFill>
                <a:latin typeface="PingFang TC"/>
              </a:defRPr>
            </a:pPr>
            <a:r>
              <a:rPr>
                <a:ea typeface="PingFang TC"/>
              </a:rPr>
              <a:t>圖表標示變項、單位、有效 n、年份與資料來源。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4105656"/>
            <a:ext cx="475488" cy="457200"/>
          </a:xfrm>
          <a:prstGeom prst="rect">
            <a:avLst/>
          </a:prstGeom>
          <a:solidFill>
            <a:srgbClr val="3B4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2376" y="416052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FFFFFF"/>
                </a:solidFill>
                <a:latin typeface="PingFang TC"/>
              </a:defRPr>
            </a:pPr>
            <a:r>
              <a:rPr>
                <a:ea typeface="PingFang TC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98448" y="4087368"/>
            <a:ext cx="10104120" cy="8961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300" b="0">
                <a:solidFill>
                  <a:srgbClr val="20283F"/>
                </a:solidFill>
                <a:latin typeface="PingFang TC"/>
              </a:defRPr>
            </a:pPr>
            <a:r>
              <a:rPr>
                <a:ea typeface="PingFang TC"/>
              </a:rPr>
              <a:t>把資料事實、可能解釋與不能推論的內容分開。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" y="5129784"/>
            <a:ext cx="475488" cy="457200"/>
          </a:xfrm>
          <a:prstGeom prst="rect">
            <a:avLst/>
          </a:prstGeom>
          <a:solidFill>
            <a:srgbClr val="3B4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2376" y="5184648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FFFFFF"/>
                </a:solidFill>
                <a:latin typeface="PingFang TC"/>
              </a:defRPr>
            </a:pPr>
            <a:r>
              <a:rPr>
                <a:ea typeface="PingFang TC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98448" y="5111496"/>
            <a:ext cx="10104120" cy="8961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300" b="0">
                <a:solidFill>
                  <a:srgbClr val="20283F"/>
                </a:solidFill>
                <a:latin typeface="PingFang TC"/>
              </a:defRPr>
            </a:pPr>
            <a:r>
              <a:rPr>
                <a:ea typeface="PingFang TC"/>
              </a:rPr>
              <a:t>保留完整提示語、原始資料及分析與修正紀錄。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B56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3B4A8C"/>
                </a:solidFill>
                <a:latin typeface="PingFang TC"/>
              </a:defRPr>
            </a:pPr>
            <a:r>
              <a:rPr>
                <a:ea typeface="PingFang TC"/>
              </a:rPr>
              <a:t>DATA MINING  /  WEEK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41248"/>
            <a:ext cx="11064240" cy="10789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3400" b="1">
                <a:solidFill>
                  <a:srgbClr val="20283F"/>
                </a:solidFill>
                <a:latin typeface="PingFang TC"/>
              </a:defRPr>
            </a:pPr>
            <a:r>
              <a:rPr>
                <a:ea typeface="PingFang TC"/>
              </a:rPr>
              <a:t>資料來源與延伸操作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28232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596078"/>
                </a:solidFill>
                <a:latin typeface="PingFang TC"/>
              </a:defRPr>
            </a:pPr>
            <a:r>
              <a:rPr>
                <a:ea typeface="PingFang TC"/>
              </a:rPr>
              <a:t>臺北市立大學 公共事務學系｜郭毓倫 · 資料探勘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00800"/>
            <a:ext cx="594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596078"/>
                </a:solidFill>
                <a:latin typeface="PingFang TC"/>
              </a:defRPr>
            </a:pPr>
            <a:r>
              <a:rPr>
                <a:ea typeface="PingFang TC"/>
              </a:rPr>
              <a:t>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57400"/>
            <a:ext cx="1088136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300" b="0">
                <a:solidFill>
                  <a:srgbClr val="20283F"/>
                </a:solidFill>
                <a:latin typeface="PingFang TC"/>
              </a:defRPr>
            </a:pPr>
            <a:r>
              <a:rPr>
                <a:ea typeface="PingFang TC"/>
              </a:rPr>
              <a:t>中央研究院 2015 臺灣社會變遷基本調查</a:t>
            </a:r>
          </a:p>
          <a:p>
            <a:pPr>
              <a:spcAft>
                <a:spcPts val="1000"/>
              </a:spcAft>
              <a:defRPr sz="2300" b="0">
                <a:solidFill>
                  <a:srgbClr val="20283F"/>
                </a:solidFill>
                <a:latin typeface="PingFang TC"/>
              </a:defRPr>
            </a:pPr>
            <a:r>
              <a:rPr>
                <a:ea typeface="PingFang TC"/>
              </a:rPr>
              <a:t>18–24 歲篩選子集；本檔實際觀察為 19–24 歲。</a:t>
            </a:r>
          </a:p>
          <a:p>
            <a:pPr>
              <a:spcAft>
                <a:spcPts val="1000"/>
              </a:spcAft>
              <a:defRPr sz="2300" b="0">
                <a:solidFill>
                  <a:srgbClr val="20283F"/>
                </a:solidFill>
                <a:latin typeface="PingFang TC"/>
              </a:defRPr>
            </a:pPr>
            <a:r>
              <a:rPr>
                <a:ea typeface="PingFang TC"/>
              </a:rPr>
              <a:t>僅限學術用途、禁止商業使用；成果請註明來源。</a:t>
            </a:r>
          </a:p>
        </p:txBody>
      </p:sp>
      <p:sp>
        <p:nvSpPr>
          <p:cNvPr id="8" name="Rectangle 7">
            <a:hlinkClick r:id="rId3"/>
          </p:cNvPr>
          <p:cNvSpPr/>
          <p:nvPr/>
        </p:nvSpPr>
        <p:spPr>
          <a:xfrm>
            <a:off x="640080" y="5440680"/>
            <a:ext cx="10881360" cy="566928"/>
          </a:xfrm>
          <a:prstGeom prst="rect">
            <a:avLst/>
          </a:prstGeom>
          <a:solidFill>
            <a:srgbClr val="3B4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>
            <a:hlinkClick r:id="rId3"/>
          </p:cNvPr>
          <p:cNvSpPr txBox="1"/>
          <p:nvPr/>
        </p:nvSpPr>
        <p:spPr>
          <a:xfrm>
            <a:off x="841248" y="5559552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900" b="1">
                <a:solidFill>
                  <a:srgbClr val="FFFFFF"/>
                </a:solidFill>
                <a:latin typeface="PingFang TC"/>
              </a:defRPr>
            </a:pPr>
            <a:r>
              <a:rPr>
                <a:ea typeface="PingFang TC"/>
              </a:rPr>
              <a:t>開啟完整教材、下載 CSV 與操作互動實驗 →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5｜不同群體的滿意度有差嗎？</dc:title>
  <dc:subject>資料探勘課程教材</dc:subject>
  <dc:creator>郭毓倫｜臺北市立大學公共事務學系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